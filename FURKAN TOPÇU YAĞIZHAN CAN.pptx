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2A2A2A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2A2A2A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9700" y="2819400"/>
            <a:ext cx="3556000" cy="1206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5400" y="2971800"/>
            <a:ext cx="1701800" cy="901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57000" y="2654300"/>
            <a:ext cx="2794000" cy="151130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8737600" y="1524000"/>
            <a:ext cx="0" cy="7721600"/>
          </a:xfrm>
          <a:custGeom>
            <a:avLst/>
            <a:gdLst/>
            <a:ahLst/>
            <a:cxnLst/>
            <a:rect l="l" t="t" r="r" b="b"/>
            <a:pathLst>
              <a:path w="0" h="7721600">
                <a:moveTo>
                  <a:pt x="0" y="7721600"/>
                </a:moveTo>
                <a:lnTo>
                  <a:pt x="0" y="0"/>
                </a:lnTo>
              </a:path>
            </a:pathLst>
          </a:custGeom>
          <a:ln w="25400">
            <a:solidFill>
              <a:srgbClr val="7C7C7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45600" y="5194300"/>
            <a:ext cx="101600" cy="12700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98300" y="4648200"/>
            <a:ext cx="203200" cy="2286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690600" y="4457700"/>
            <a:ext cx="1181100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2A2A2A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50" b="0" i="0">
                <a:solidFill>
                  <a:srgbClr val="2A2A2A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4761" y="315383"/>
            <a:ext cx="15339694" cy="66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50" b="0" i="0">
                <a:solidFill>
                  <a:srgbClr val="2A2A2A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76100" y="2590800"/>
            <a:ext cx="1663700" cy="2959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400" y="7315200"/>
            <a:ext cx="4775200" cy="3429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5024" y="408163"/>
            <a:ext cx="14735175" cy="124904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32384" marR="5080" indent="-20320">
              <a:lnSpc>
                <a:spcPts val="4550"/>
              </a:lnSpc>
              <a:spcBef>
                <a:spcPts val="695"/>
              </a:spcBef>
            </a:pPr>
            <a:r>
              <a:rPr dirty="0" sz="4200" spc="-135">
                <a:solidFill>
                  <a:srgbClr val="2F2F2F"/>
                </a:solidFill>
              </a:rPr>
              <a:t>Mühendislik</a:t>
            </a:r>
            <a:r>
              <a:rPr dirty="0" sz="4200" spc="-200">
                <a:solidFill>
                  <a:srgbClr val="2F2F2F"/>
                </a:solidFill>
              </a:rPr>
              <a:t> </a:t>
            </a:r>
            <a:r>
              <a:rPr dirty="0" sz="4200" spc="-70">
                <a:solidFill>
                  <a:srgbClr val="2F2F2F"/>
                </a:solidFill>
              </a:rPr>
              <a:t>Problemi:</a:t>
            </a:r>
            <a:r>
              <a:rPr dirty="0" sz="4200" spc="-295">
                <a:solidFill>
                  <a:srgbClr val="2F2F2F"/>
                </a:solidFill>
              </a:rPr>
              <a:t> </a:t>
            </a:r>
            <a:r>
              <a:rPr dirty="0" sz="4200" spc="-35">
                <a:solidFill>
                  <a:srgbClr val="2F2F2F"/>
                </a:solidFill>
              </a:rPr>
              <a:t>Sismik</a:t>
            </a:r>
            <a:r>
              <a:rPr dirty="0" sz="4200" spc="-475">
                <a:solidFill>
                  <a:srgbClr val="2F2F2F"/>
                </a:solidFill>
              </a:rPr>
              <a:t> </a:t>
            </a:r>
            <a:r>
              <a:rPr dirty="0" sz="4200" spc="-35">
                <a:solidFill>
                  <a:srgbClr val="2F2F2F"/>
                </a:solidFill>
              </a:rPr>
              <a:t>Verideki</a:t>
            </a:r>
            <a:r>
              <a:rPr dirty="0" sz="4200" spc="-20">
                <a:solidFill>
                  <a:srgbClr val="2F2F2F"/>
                </a:solidFill>
              </a:rPr>
              <a:t> </a:t>
            </a:r>
            <a:r>
              <a:rPr dirty="0" sz="4200" spc="-60">
                <a:solidFill>
                  <a:srgbClr val="2F2F2F"/>
                </a:solidFill>
              </a:rPr>
              <a:t>Belirsizlik</a:t>
            </a:r>
            <a:r>
              <a:rPr dirty="0" sz="4200" spc="-215">
                <a:solidFill>
                  <a:srgbClr val="2F2F2F"/>
                </a:solidFill>
              </a:rPr>
              <a:t> </a:t>
            </a:r>
            <a:r>
              <a:rPr dirty="0" sz="4200" spc="110">
                <a:solidFill>
                  <a:srgbClr val="313131"/>
                </a:solidFill>
              </a:rPr>
              <a:t>ve</a:t>
            </a:r>
            <a:r>
              <a:rPr dirty="0" sz="4200" spc="-610">
                <a:solidFill>
                  <a:srgbClr val="313131"/>
                </a:solidFill>
              </a:rPr>
              <a:t> </a:t>
            </a:r>
            <a:r>
              <a:rPr dirty="0" sz="4200" spc="-10">
                <a:solidFill>
                  <a:srgbClr val="313131"/>
                </a:solidFill>
              </a:rPr>
              <a:t>Yapısal </a:t>
            </a:r>
            <a:r>
              <a:rPr dirty="0" sz="4200" spc="-210">
                <a:solidFill>
                  <a:srgbClr val="2F2F2F"/>
                </a:solidFill>
              </a:rPr>
              <a:t>Tepkinin</a:t>
            </a:r>
            <a:r>
              <a:rPr dirty="0" sz="4200" spc="-405">
                <a:solidFill>
                  <a:srgbClr val="2F2F2F"/>
                </a:solidFill>
              </a:rPr>
              <a:t> </a:t>
            </a:r>
            <a:r>
              <a:rPr dirty="0" sz="4200" spc="-50">
                <a:solidFill>
                  <a:srgbClr val="2F2F2F"/>
                </a:solidFill>
              </a:rPr>
              <a:t>Karmaşıklığı</a:t>
            </a:r>
            <a:endParaRPr sz="4200"/>
          </a:p>
        </p:txBody>
      </p:sp>
      <p:sp>
        <p:nvSpPr>
          <p:cNvPr id="9" name="object 9" descr=""/>
          <p:cNvSpPr txBox="1"/>
          <p:nvPr/>
        </p:nvSpPr>
        <p:spPr>
          <a:xfrm>
            <a:off x="15707030" y="9448326"/>
            <a:ext cx="114935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6349992" y="9448326"/>
            <a:ext cx="98806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10" b="1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54112" y="1922991"/>
            <a:ext cx="1143444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24520" algn="l"/>
              </a:tabLst>
            </a:pPr>
            <a:r>
              <a:rPr dirty="0" sz="2700" spc="95">
                <a:solidFill>
                  <a:srgbClr val="0E0E0E"/>
                </a:solidFill>
                <a:latin typeface="Cambria"/>
                <a:cs typeface="Cambria"/>
              </a:rPr>
              <a:t>The</a:t>
            </a:r>
            <a:r>
              <a:rPr dirty="0" sz="2700" spc="15">
                <a:solidFill>
                  <a:srgbClr val="0E0E0E"/>
                </a:solidFill>
                <a:latin typeface="Cambria"/>
                <a:cs typeface="Cambria"/>
              </a:rPr>
              <a:t> </a:t>
            </a:r>
            <a:r>
              <a:rPr dirty="0" sz="2700" spc="50">
                <a:latin typeface="Cambria"/>
                <a:cs typeface="Cambria"/>
              </a:rPr>
              <a:t>Problem</a:t>
            </a:r>
            <a:r>
              <a:rPr dirty="0" sz="2700" spc="145">
                <a:latin typeface="Cambria"/>
                <a:cs typeface="Cambria"/>
              </a:rPr>
              <a:t> </a:t>
            </a:r>
            <a:r>
              <a:rPr dirty="0" sz="2700" spc="195">
                <a:solidFill>
                  <a:srgbClr val="0C0C0C"/>
                </a:solidFill>
                <a:latin typeface="Cambria"/>
                <a:cs typeface="Cambria"/>
              </a:rPr>
              <a:t>Space</a:t>
            </a:r>
            <a:r>
              <a:rPr dirty="0" sz="2700">
                <a:solidFill>
                  <a:srgbClr val="0C0C0C"/>
                </a:solidFill>
                <a:latin typeface="Cambria"/>
                <a:cs typeface="Cambria"/>
              </a:rPr>
              <a:t>	</a:t>
            </a:r>
            <a:r>
              <a:rPr dirty="0" sz="2700" spc="-75">
                <a:latin typeface="Lucida Sans Unicode"/>
                <a:cs typeface="Lucida Sans Unicode"/>
              </a:rPr>
              <a:t>The</a:t>
            </a:r>
            <a:r>
              <a:rPr dirty="0" sz="2700" spc="-385">
                <a:latin typeface="Lucida Sans Unicode"/>
                <a:cs typeface="Lucida Sans Unicode"/>
              </a:rPr>
              <a:t> </a:t>
            </a:r>
            <a:r>
              <a:rPr dirty="0" sz="2700" spc="-80">
                <a:latin typeface="Lucida Sans Unicode"/>
                <a:cs typeface="Lucida Sans Unicode"/>
              </a:rPr>
              <a:t>Modeling</a:t>
            </a:r>
            <a:r>
              <a:rPr dirty="0" sz="2700" spc="-155">
                <a:latin typeface="Lucida Sans Unicode"/>
                <a:cs typeface="Lucida Sans Unicode"/>
              </a:rPr>
              <a:t> </a:t>
            </a:r>
            <a:r>
              <a:rPr dirty="0" sz="2700" spc="-10">
                <a:solidFill>
                  <a:srgbClr val="131313"/>
                </a:solidFill>
                <a:latin typeface="Lucida Sans Unicode"/>
                <a:cs typeface="Lucida Sans Unicode"/>
              </a:rPr>
              <a:t>Space</a:t>
            </a:r>
            <a:endParaRPr sz="2700">
              <a:latin typeface="Lucida Sans Unicode"/>
              <a:cs typeface="Lucida Sans Unicode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77784" y="5740047"/>
            <a:ext cx="7320280" cy="1956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515"/>
              </a:lnSpc>
              <a:spcBef>
                <a:spcPts val="100"/>
              </a:spcBef>
            </a:pPr>
            <a:r>
              <a:rPr dirty="0" sz="2150" spc="-114" b="1">
                <a:latin typeface="Cambria"/>
                <a:cs typeface="Cambria"/>
              </a:rPr>
              <a:t>Projenin</a:t>
            </a:r>
            <a:r>
              <a:rPr dirty="0" sz="2150" spc="5" b="1">
                <a:latin typeface="Cambria"/>
                <a:cs typeface="Cambria"/>
              </a:rPr>
              <a:t> </a:t>
            </a:r>
            <a:r>
              <a:rPr dirty="0" sz="2150" spc="-35" b="1">
                <a:latin typeface="Cambria"/>
                <a:cs typeface="Cambria"/>
              </a:rPr>
              <a:t>Çift</a:t>
            </a:r>
            <a:r>
              <a:rPr dirty="0" sz="2150" spc="-25" b="1">
                <a:latin typeface="Cambria"/>
                <a:cs typeface="Cambria"/>
              </a:rPr>
              <a:t> </a:t>
            </a:r>
            <a:r>
              <a:rPr dirty="0" sz="2150" spc="-120" b="1">
                <a:latin typeface="Cambria"/>
                <a:cs typeface="Cambria"/>
              </a:rPr>
              <a:t>Katmanlı</a:t>
            </a:r>
            <a:r>
              <a:rPr dirty="0" sz="2150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Amacı:</a:t>
            </a:r>
            <a:endParaRPr sz="2150">
              <a:latin typeface="Cambria"/>
              <a:cs typeface="Cambria"/>
            </a:endParaRPr>
          </a:p>
          <a:p>
            <a:pPr marL="281940" marR="21590" indent="-226695">
              <a:lnSpc>
                <a:spcPts val="2500"/>
              </a:lnSpc>
              <a:spcBef>
                <a:spcPts val="135"/>
              </a:spcBef>
              <a:buFont typeface="Cambria"/>
              <a:buChar char="•"/>
              <a:tabLst>
                <a:tab pos="281940" algn="l"/>
                <a:tab pos="288925" algn="l"/>
              </a:tabLst>
            </a:pP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195" b="1">
                <a:latin typeface="Cambria"/>
                <a:cs typeface="Cambria"/>
              </a:rPr>
              <a:t>Veri</a:t>
            </a:r>
            <a:r>
              <a:rPr dirty="0" sz="2200" spc="70" b="1">
                <a:latin typeface="Cambria"/>
                <a:cs typeface="Cambria"/>
              </a:rPr>
              <a:t> </a:t>
            </a:r>
            <a:r>
              <a:rPr dirty="0" sz="2200" spc="-130" b="1">
                <a:latin typeface="Cambria"/>
                <a:cs typeface="Cambria"/>
              </a:rPr>
              <a:t>Düzeyi:</a:t>
            </a:r>
            <a:r>
              <a:rPr dirty="0" sz="2200" spc="10" b="1">
                <a:latin typeface="Cambria"/>
                <a:cs typeface="Cambria"/>
              </a:rPr>
              <a:t> </a:t>
            </a:r>
            <a:r>
              <a:rPr dirty="0" sz="2200" spc="-35">
                <a:latin typeface="Cambria"/>
                <a:cs typeface="Cambria"/>
              </a:rPr>
              <a:t>Ham</a:t>
            </a:r>
            <a:r>
              <a:rPr dirty="0" sz="2200" spc="-90">
                <a:latin typeface="Cambria"/>
                <a:cs typeface="Cambria"/>
              </a:rPr>
              <a:t> sismik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100">
                <a:latin typeface="Cambria"/>
                <a:cs typeface="Cambria"/>
              </a:rPr>
              <a:t>ivme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85">
                <a:latin typeface="Cambria"/>
                <a:cs typeface="Cambria"/>
              </a:rPr>
              <a:t>verilerindeki</a:t>
            </a:r>
            <a:r>
              <a:rPr dirty="0" sz="2200" spc="65">
                <a:latin typeface="Cambria"/>
                <a:cs typeface="Cambria"/>
              </a:rPr>
              <a:t> </a:t>
            </a:r>
            <a:r>
              <a:rPr dirty="0" sz="2200" spc="-75">
                <a:latin typeface="Cambria"/>
                <a:cs typeface="Cambria"/>
              </a:rPr>
              <a:t>gürültüyü,</a:t>
            </a:r>
            <a:r>
              <a:rPr dirty="0" sz="2200" spc="105">
                <a:latin typeface="Cambria"/>
                <a:cs typeface="Cambria"/>
              </a:rPr>
              <a:t> </a:t>
            </a:r>
            <a:r>
              <a:rPr dirty="0" sz="2200" spc="-25">
                <a:latin typeface="Cambria"/>
                <a:cs typeface="Cambria"/>
              </a:rPr>
              <a:t>sinyalin </a:t>
            </a:r>
            <a:r>
              <a:rPr dirty="0" sz="2200" spc="-90">
                <a:latin typeface="Cambria"/>
                <a:cs typeface="Cambria"/>
              </a:rPr>
              <a:t>periyodik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doğasına</a:t>
            </a:r>
            <a:r>
              <a:rPr dirty="0" sz="2200" spc="5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uygun</a:t>
            </a:r>
            <a:r>
              <a:rPr dirty="0" sz="2200" spc="-35">
                <a:latin typeface="Cambria"/>
                <a:cs typeface="Cambria"/>
              </a:rPr>
              <a:t> </a:t>
            </a:r>
            <a:r>
              <a:rPr dirty="0" sz="2200" spc="-95">
                <a:latin typeface="Cambria"/>
                <a:cs typeface="Cambria"/>
              </a:rPr>
              <a:t>yöntemlerle</a:t>
            </a:r>
            <a:r>
              <a:rPr dirty="0" sz="2200" spc="65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filtrelemek.</a:t>
            </a:r>
            <a:endParaRPr sz="2200">
              <a:latin typeface="Cambria"/>
              <a:cs typeface="Cambria"/>
            </a:endParaRPr>
          </a:p>
          <a:p>
            <a:pPr marL="290195" marR="5080" indent="-234950">
              <a:lnSpc>
                <a:spcPct val="87700"/>
              </a:lnSpc>
              <a:spcBef>
                <a:spcPts val="125"/>
              </a:spcBef>
              <a:buChar char="•"/>
              <a:tabLst>
                <a:tab pos="290195" algn="l"/>
                <a:tab pos="294640" algn="l"/>
              </a:tabLst>
            </a:pP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185" b="1">
                <a:latin typeface="Cambria"/>
                <a:cs typeface="Cambria"/>
              </a:rPr>
              <a:t>model</a:t>
            </a:r>
            <a:r>
              <a:rPr dirty="0" sz="2200" spc="55" b="1">
                <a:latin typeface="Cambria"/>
                <a:cs typeface="Cambria"/>
              </a:rPr>
              <a:t> </a:t>
            </a:r>
            <a:r>
              <a:rPr dirty="0" sz="2200" spc="-130" b="1">
                <a:latin typeface="Cambria"/>
                <a:cs typeface="Cambria"/>
              </a:rPr>
              <a:t>Düzeyi:</a:t>
            </a:r>
            <a:r>
              <a:rPr dirty="0" sz="2200" spc="5" b="1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Güriiltüden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arındırılmış</a:t>
            </a:r>
            <a:r>
              <a:rPr dirty="0" sz="2200" spc="30">
                <a:latin typeface="Cambria"/>
                <a:cs typeface="Cambria"/>
              </a:rPr>
              <a:t> </a:t>
            </a:r>
            <a:r>
              <a:rPr dirty="0" sz="2200" spc="-70">
                <a:latin typeface="Cambria"/>
                <a:cs typeface="Cambria"/>
              </a:rPr>
              <a:t>veriyle,</a:t>
            </a:r>
            <a:r>
              <a:rPr dirty="0" sz="2200" spc="-4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çok</a:t>
            </a:r>
            <a:r>
              <a:rPr dirty="0" sz="2200" spc="-50">
                <a:latin typeface="Cambria"/>
                <a:cs typeface="Cambria"/>
              </a:rPr>
              <a:t> </a:t>
            </a:r>
            <a:r>
              <a:rPr dirty="0" sz="2200" spc="-75">
                <a:latin typeface="Cambria"/>
                <a:cs typeface="Cambria"/>
              </a:rPr>
              <a:t>katlı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25">
                <a:latin typeface="Cambria"/>
                <a:cs typeface="Cambria"/>
              </a:rPr>
              <a:t>bir </a:t>
            </a:r>
            <a:r>
              <a:rPr dirty="0" sz="2350" spc="-150">
                <a:latin typeface="Times New Roman"/>
                <a:cs typeface="Times New Roman"/>
              </a:rPr>
              <a:t>yapanın</a:t>
            </a:r>
            <a:r>
              <a:rPr dirty="0" sz="2350" spc="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dinamit</a:t>
            </a:r>
            <a:r>
              <a:rPr dirty="0" sz="2350" spc="-65">
                <a:latin typeface="Times New Roman"/>
                <a:cs typeface="Times New Roman"/>
              </a:rPr>
              <a:t> </a:t>
            </a:r>
            <a:r>
              <a:rPr dirty="0" sz="2350" spc="-60">
                <a:latin typeface="Times New Roman"/>
                <a:cs typeface="Times New Roman"/>
              </a:rPr>
              <a:t>deprem</a:t>
            </a:r>
            <a:r>
              <a:rPr dirty="0" sz="2350" spc="50">
                <a:latin typeface="Times New Roman"/>
                <a:cs typeface="Times New Roman"/>
              </a:rPr>
              <a:t> </a:t>
            </a:r>
            <a:r>
              <a:rPr dirty="0" sz="2350" spc="-75">
                <a:latin typeface="Times New Roman"/>
                <a:cs typeface="Times New Roman"/>
              </a:rPr>
              <a:t>tepkisini</a:t>
            </a:r>
            <a:r>
              <a:rPr dirty="0" sz="2350" spc="-60">
                <a:latin typeface="Times New Roman"/>
                <a:cs typeface="Times New Roman"/>
              </a:rPr>
              <a:t> </a:t>
            </a:r>
            <a:r>
              <a:rPr dirty="0" sz="2350" spc="-85">
                <a:latin typeface="Times New Roman"/>
                <a:cs typeface="Times New Roman"/>
              </a:rPr>
              <a:t>sayısal</a:t>
            </a:r>
            <a:r>
              <a:rPr dirty="0" sz="2350" spc="-65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entegrasyon </a:t>
            </a:r>
            <a:r>
              <a:rPr dirty="0" sz="2500" spc="-160">
                <a:latin typeface="Times New Roman"/>
                <a:cs typeface="Times New Roman"/>
              </a:rPr>
              <a:t>yöntemleriyle</a:t>
            </a:r>
            <a:r>
              <a:rPr dirty="0" sz="2500" spc="170">
                <a:latin typeface="Times New Roman"/>
                <a:cs typeface="Times New Roman"/>
              </a:rPr>
              <a:t> </a:t>
            </a:r>
            <a:r>
              <a:rPr dirty="0" sz="2500" spc="-190">
                <a:latin typeface="Times New Roman"/>
                <a:cs typeface="Times New Roman"/>
              </a:rPr>
              <a:t>modellemek</a:t>
            </a:r>
            <a:r>
              <a:rPr dirty="0" sz="2500" spc="65">
                <a:latin typeface="Times New Roman"/>
                <a:cs typeface="Times New Roman"/>
              </a:rPr>
              <a:t> </a:t>
            </a:r>
            <a:r>
              <a:rPr dirty="0" sz="2500" spc="-235">
                <a:latin typeface="Times New Roman"/>
                <a:cs typeface="Times New Roman"/>
              </a:rPr>
              <a:t>ve</a:t>
            </a:r>
            <a:r>
              <a:rPr dirty="0" sz="2500" spc="-10">
                <a:latin typeface="Times New Roman"/>
                <a:cs typeface="Times New Roman"/>
              </a:rPr>
              <a:t> </a:t>
            </a:r>
            <a:r>
              <a:rPr dirty="0" sz="2500" spc="-125">
                <a:latin typeface="Times New Roman"/>
                <a:cs typeface="Times New Roman"/>
              </a:rPr>
              <a:t>performanslarını</a:t>
            </a:r>
            <a:r>
              <a:rPr dirty="0" sz="2500" spc="-110">
                <a:latin typeface="Times New Roman"/>
                <a:cs typeface="Times New Roman"/>
              </a:rPr>
              <a:t> </a:t>
            </a:r>
            <a:r>
              <a:rPr dirty="0" sz="2500" spc="-100">
                <a:latin typeface="Times New Roman"/>
                <a:cs typeface="Times New Roman"/>
              </a:rPr>
              <a:t>karşılaştırmal‹.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9284" y="5740047"/>
            <a:ext cx="7343775" cy="1308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ts val="2515"/>
              </a:lnSpc>
              <a:spcBef>
                <a:spcPts val="100"/>
              </a:spcBef>
            </a:pPr>
            <a:r>
              <a:rPr dirty="0" sz="2150" spc="-114" b="1">
                <a:latin typeface="Cambria"/>
                <a:cs typeface="Cambria"/>
              </a:rPr>
              <a:t>Fiziksel</a:t>
            </a:r>
            <a:r>
              <a:rPr dirty="0" sz="2150" spc="-5" b="1">
                <a:latin typeface="Cambria"/>
                <a:cs typeface="Cambria"/>
              </a:rPr>
              <a:t> </a:t>
            </a:r>
            <a:r>
              <a:rPr dirty="0" sz="2150" spc="-30" b="1">
                <a:latin typeface="Cambria"/>
                <a:cs typeface="Cambria"/>
              </a:rPr>
              <a:t>ve</a:t>
            </a:r>
            <a:r>
              <a:rPr dirty="0" sz="2150" spc="-90" b="1">
                <a:latin typeface="Cambria"/>
                <a:cs typeface="Cambria"/>
              </a:rPr>
              <a:t> </a:t>
            </a:r>
            <a:r>
              <a:rPr dirty="0" sz="2150" spc="-105" b="1">
                <a:latin typeface="Cambria"/>
                <a:cs typeface="Cambria"/>
              </a:rPr>
              <a:t>Matematiksel</a:t>
            </a:r>
            <a:r>
              <a:rPr dirty="0" sz="2150" spc="195" b="1">
                <a:latin typeface="Cambria"/>
                <a:cs typeface="Cambria"/>
              </a:rPr>
              <a:t> </a:t>
            </a:r>
            <a:r>
              <a:rPr dirty="0" sz="2150" spc="-10" b="1">
                <a:latin typeface="Cambria"/>
                <a:cs typeface="Cambria"/>
              </a:rPr>
              <a:t>Model:</a:t>
            </a:r>
            <a:endParaRPr sz="2150">
              <a:latin typeface="Cambria"/>
              <a:cs typeface="Cambria"/>
            </a:endParaRPr>
          </a:p>
          <a:p>
            <a:pPr algn="just" marL="288925" marR="5080" indent="-233679">
              <a:lnSpc>
                <a:spcPts val="2500"/>
              </a:lnSpc>
              <a:spcBef>
                <a:spcPts val="135"/>
              </a:spcBef>
              <a:buChar char="•"/>
              <a:tabLst>
                <a:tab pos="290195" algn="l"/>
              </a:tabLst>
            </a:pPr>
            <a:r>
              <a:rPr dirty="0" sz="2200" spc="-80">
                <a:latin typeface="Cambria"/>
                <a:cs typeface="Cambria"/>
              </a:rPr>
              <a:t>Sistemin</a:t>
            </a:r>
            <a:r>
              <a:rPr dirty="0" sz="2200" spc="-5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dinamik</a:t>
            </a:r>
            <a:r>
              <a:rPr dirty="0" sz="2200" spc="-25">
                <a:latin typeface="Cambria"/>
                <a:cs typeface="Cambria"/>
              </a:rPr>
              <a:t> </a:t>
            </a:r>
            <a:r>
              <a:rPr dirty="0" sz="2200" spc="-70">
                <a:latin typeface="Cambria"/>
                <a:cs typeface="Cambria"/>
              </a:rPr>
              <a:t>davranışı,</a:t>
            </a:r>
            <a:r>
              <a:rPr dirty="0" sz="2200" spc="135">
                <a:latin typeface="Cambria"/>
                <a:cs typeface="Cambria"/>
              </a:rPr>
              <a:t> </a:t>
            </a:r>
            <a:r>
              <a:rPr dirty="0" sz="2200" spc="-130">
                <a:latin typeface="Cambria"/>
                <a:cs typeface="Cambria"/>
              </a:rPr>
              <a:t>Newton'un</a:t>
            </a:r>
            <a:r>
              <a:rPr dirty="0" sz="2200" spc="15">
                <a:latin typeface="Cambria"/>
                <a:cs typeface="Cambria"/>
              </a:rPr>
              <a:t> </a:t>
            </a:r>
            <a:r>
              <a:rPr dirty="0" sz="2200" spc="-25">
                <a:latin typeface="Cambria"/>
                <a:cs typeface="Cambria"/>
              </a:rPr>
              <a:t>İkinci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sz="2200" spc="-105">
                <a:latin typeface="Cambria"/>
                <a:cs typeface="Cambria"/>
              </a:rPr>
              <a:t>Hareket</a:t>
            </a:r>
            <a:r>
              <a:rPr dirty="0" sz="2200" spc="10">
                <a:latin typeface="Cambria"/>
                <a:cs typeface="Cambria"/>
              </a:rPr>
              <a:t> </a:t>
            </a:r>
            <a:r>
              <a:rPr dirty="0" sz="2200" spc="-20">
                <a:latin typeface="Cambria"/>
                <a:cs typeface="Cambria"/>
              </a:rPr>
              <a:t>Yasasına </a:t>
            </a:r>
            <a:r>
              <a:rPr dirty="0" sz="2200" spc="-20">
                <a:latin typeface="Cambria"/>
                <a:cs typeface="Cambria"/>
              </a:rPr>
              <a:t>	</a:t>
            </a:r>
            <a:r>
              <a:rPr dirty="0" sz="2200" spc="-95">
                <a:latin typeface="Cambria"/>
                <a:cs typeface="Cambria"/>
              </a:rPr>
              <a:t>dayanan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45">
                <a:latin typeface="Cambria"/>
                <a:cs typeface="Cambria"/>
              </a:rPr>
              <a:t>ikinci</a:t>
            </a:r>
            <a:r>
              <a:rPr dirty="0" sz="2200" spc="-75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mertebeden</a:t>
            </a:r>
            <a:r>
              <a:rPr dirty="0" sz="2200" spc="40">
                <a:latin typeface="Cambria"/>
                <a:cs typeface="Cambria"/>
              </a:rPr>
              <a:t> </a:t>
            </a:r>
            <a:r>
              <a:rPr dirty="0" sz="2200" spc="-120">
                <a:latin typeface="Cambria"/>
                <a:cs typeface="Cambria"/>
              </a:rPr>
              <a:t>adi</a:t>
            </a:r>
            <a:r>
              <a:rPr dirty="0" sz="2200">
                <a:latin typeface="Cambria"/>
                <a:cs typeface="Cambria"/>
              </a:rPr>
              <a:t> </a:t>
            </a:r>
            <a:r>
              <a:rPr dirty="0" sz="2200" spc="-85">
                <a:latin typeface="Cambria"/>
                <a:cs typeface="Cambria"/>
              </a:rPr>
              <a:t>diferansiyel</a:t>
            </a:r>
            <a:r>
              <a:rPr dirty="0" sz="2200" spc="5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denklemler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matrisi </a:t>
            </a:r>
            <a:r>
              <a:rPr dirty="0" sz="2200" spc="-10">
                <a:latin typeface="Cambria"/>
                <a:cs typeface="Cambria"/>
              </a:rPr>
              <a:t>	</a:t>
            </a:r>
            <a:r>
              <a:rPr dirty="0" sz="2200" spc="-45">
                <a:latin typeface="Cambria"/>
                <a:cs typeface="Cambria"/>
              </a:rPr>
              <a:t>ile</a:t>
            </a:r>
            <a:r>
              <a:rPr dirty="0" sz="2200" spc="-70">
                <a:latin typeface="Cambria"/>
                <a:cs typeface="Cambria"/>
              </a:rPr>
              <a:t> </a:t>
            </a:r>
            <a:r>
              <a:rPr dirty="0" sz="2200" spc="-55">
                <a:latin typeface="Cambria"/>
                <a:cs typeface="Cambria"/>
              </a:rPr>
              <a:t>ifade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edilir: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54913" y="8075789"/>
            <a:ext cx="15454630" cy="13347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2735"/>
              </a:lnSpc>
              <a:spcBef>
                <a:spcPts val="110"/>
              </a:spcBef>
            </a:pPr>
            <a:r>
              <a:rPr dirty="0" sz="2350" spc="-190" b="1">
                <a:latin typeface="Cambria"/>
                <a:cs typeface="Cambria"/>
              </a:rPr>
              <a:t>5ayısal</a:t>
            </a:r>
            <a:r>
              <a:rPr dirty="0" sz="2350" spc="40" b="1">
                <a:latin typeface="Cambria"/>
                <a:cs typeface="Cambria"/>
              </a:rPr>
              <a:t> </a:t>
            </a:r>
            <a:r>
              <a:rPr dirty="0" sz="2350" spc="-195" b="1">
                <a:latin typeface="Cambria"/>
                <a:cs typeface="Cambria"/>
              </a:rPr>
              <a:t>finatiz</a:t>
            </a:r>
            <a:r>
              <a:rPr dirty="0" sz="2350" spc="70" b="1">
                <a:latin typeface="Cambria"/>
                <a:cs typeface="Cambria"/>
              </a:rPr>
              <a:t> </a:t>
            </a:r>
            <a:r>
              <a:rPr dirty="0" sz="2350" spc="-210" b="1">
                <a:latin typeface="Cambria"/>
                <a:cs typeface="Cambria"/>
              </a:rPr>
              <a:t>İhtiyacının</a:t>
            </a:r>
            <a:r>
              <a:rPr dirty="0" sz="2350" spc="180" b="1">
                <a:latin typeface="Cambria"/>
                <a:cs typeface="Cambria"/>
              </a:rPr>
              <a:t> </a:t>
            </a:r>
            <a:r>
              <a:rPr dirty="0" sz="2350" spc="-105" b="1">
                <a:latin typeface="Cambria"/>
                <a:cs typeface="Cambria"/>
              </a:rPr>
              <a:t>Gerekçesi:</a:t>
            </a:r>
            <a:endParaRPr sz="2350">
              <a:latin typeface="Cambria"/>
              <a:cs typeface="Cambria"/>
            </a:endParaRPr>
          </a:p>
          <a:p>
            <a:pPr marL="300355" marR="5080" indent="-222250">
              <a:lnSpc>
                <a:spcPts val="2500"/>
              </a:lnSpc>
              <a:spcBef>
                <a:spcPts val="114"/>
              </a:spcBef>
              <a:buChar char="•"/>
              <a:tabLst>
                <a:tab pos="300355" algn="l"/>
                <a:tab pos="312420" algn="l"/>
              </a:tabLst>
            </a:pP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95">
                <a:latin typeface="Cambria"/>
                <a:cs typeface="Cambria"/>
              </a:rPr>
              <a:t>Yapısal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sistemlerin</a:t>
            </a:r>
            <a:r>
              <a:rPr dirty="0" sz="2200" spc="-40">
                <a:latin typeface="Cambria"/>
                <a:cs typeface="Cambria"/>
              </a:rPr>
              <a:t> </a:t>
            </a:r>
            <a:r>
              <a:rPr dirty="0" sz="2200" spc="-105">
                <a:latin typeface="Cambria"/>
                <a:cs typeface="Cambria"/>
              </a:rPr>
              <a:t>karmaşık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75">
                <a:latin typeface="Cambria"/>
                <a:cs typeface="Cambria"/>
              </a:rPr>
              <a:t>doğası</a:t>
            </a:r>
            <a:r>
              <a:rPr dirty="0" sz="2200" spc="-45">
                <a:latin typeface="Cambria"/>
                <a:cs typeface="Cambria"/>
              </a:rPr>
              <a:t> </a:t>
            </a:r>
            <a:r>
              <a:rPr dirty="0" sz="2200" spc="-130">
                <a:latin typeface="Cambria"/>
                <a:cs typeface="Cambria"/>
              </a:rPr>
              <a:t>ve</a:t>
            </a:r>
            <a:r>
              <a:rPr dirty="0" sz="2200" spc="-40">
                <a:latin typeface="Cambria"/>
                <a:cs typeface="Cambria"/>
              </a:rPr>
              <a:t> </a:t>
            </a:r>
            <a:r>
              <a:rPr dirty="0" sz="2200" spc="-45">
                <a:latin typeface="Cambria"/>
                <a:cs typeface="Cambria"/>
              </a:rPr>
              <a:t>dış</a:t>
            </a:r>
            <a:r>
              <a:rPr dirty="0" sz="2200" spc="-75">
                <a:latin typeface="Cambria"/>
                <a:cs typeface="Cambria"/>
              </a:rPr>
              <a:t> </a:t>
            </a:r>
            <a:r>
              <a:rPr dirty="0" sz="2200" spc="-125">
                <a:latin typeface="Cambria"/>
                <a:cs typeface="Cambria"/>
              </a:rPr>
              <a:t>yük</a:t>
            </a:r>
            <a:r>
              <a:rPr dirty="0" sz="2200" spc="5">
                <a:latin typeface="Cambria"/>
                <a:cs typeface="Cambria"/>
              </a:rPr>
              <a:t> </a:t>
            </a:r>
            <a:r>
              <a:rPr dirty="0" sz="2200" spc="-70">
                <a:latin typeface="Cambria"/>
                <a:cs typeface="Cambria"/>
              </a:rPr>
              <a:t>fonksiyonunun</a:t>
            </a:r>
            <a:r>
              <a:rPr dirty="0" sz="2200" spc="45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(sismik</a:t>
            </a:r>
            <a:r>
              <a:rPr dirty="0" sz="2200" spc="-5">
                <a:latin typeface="Cambria"/>
                <a:cs typeface="Cambria"/>
              </a:rPr>
              <a:t> </a:t>
            </a:r>
            <a:r>
              <a:rPr dirty="0" sz="2200" spc="-110">
                <a:latin typeface="Cambria"/>
                <a:cs typeface="Cambria"/>
              </a:rPr>
              <a:t>veri)</a:t>
            </a:r>
            <a:r>
              <a:rPr dirty="0" sz="2200" spc="-10">
                <a:latin typeface="Cambria"/>
                <a:cs typeface="Cambria"/>
              </a:rPr>
              <a:t> </a:t>
            </a:r>
            <a:r>
              <a:rPr dirty="0" sz="2200" spc="-65">
                <a:latin typeface="Cambria"/>
                <a:cs typeface="Cambria"/>
              </a:rPr>
              <a:t>analitik</a:t>
            </a:r>
            <a:r>
              <a:rPr dirty="0" sz="2200" spc="40">
                <a:latin typeface="Cambria"/>
                <a:cs typeface="Cambria"/>
              </a:rPr>
              <a:t> </a:t>
            </a:r>
            <a:r>
              <a:rPr dirty="0" sz="2200" spc="-85">
                <a:latin typeface="Cambria"/>
                <a:cs typeface="Cambria"/>
              </a:rPr>
              <a:t>bir</a:t>
            </a:r>
            <a:r>
              <a:rPr dirty="0" sz="2200" spc="-50">
                <a:latin typeface="Cambria"/>
                <a:cs typeface="Cambria"/>
              </a:rPr>
              <a:t> </a:t>
            </a:r>
            <a:r>
              <a:rPr dirty="0" sz="2200" spc="-65">
                <a:latin typeface="Cambria"/>
                <a:cs typeface="Cambria"/>
              </a:rPr>
              <a:t>forma</a:t>
            </a:r>
            <a:r>
              <a:rPr dirty="0" sz="2200" spc="-35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sahip</a:t>
            </a:r>
            <a:r>
              <a:rPr dirty="0" sz="2200" spc="-40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olmaması</a:t>
            </a:r>
            <a:r>
              <a:rPr dirty="0" sz="2200" spc="140">
                <a:latin typeface="Cambria"/>
                <a:cs typeface="Cambria"/>
              </a:rPr>
              <a:t> </a:t>
            </a:r>
            <a:r>
              <a:rPr dirty="0" sz="2200" spc="-75">
                <a:latin typeface="Cambria"/>
                <a:cs typeface="Cambria"/>
              </a:rPr>
              <a:t>nedeniyle,</a:t>
            </a:r>
            <a:r>
              <a:rPr dirty="0" sz="2200" spc="55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hareket </a:t>
            </a:r>
            <a:r>
              <a:rPr dirty="0" sz="2200" spc="-70">
                <a:latin typeface="Cambria"/>
                <a:cs typeface="Cambria"/>
              </a:rPr>
              <a:t>denklemlerinin</a:t>
            </a:r>
            <a:r>
              <a:rPr dirty="0" sz="2200" spc="-55">
                <a:latin typeface="Cambria"/>
                <a:cs typeface="Cambria"/>
              </a:rPr>
              <a:t> </a:t>
            </a:r>
            <a:r>
              <a:rPr dirty="0" sz="2200" spc="-85">
                <a:latin typeface="Cambria"/>
                <a:cs typeface="Cambria"/>
              </a:rPr>
              <a:t>kapalı</a:t>
            </a:r>
            <a:r>
              <a:rPr dirty="0" sz="2200" spc="-35">
                <a:latin typeface="Cambria"/>
                <a:cs typeface="Cambria"/>
              </a:rPr>
              <a:t> </a:t>
            </a:r>
            <a:r>
              <a:rPr dirty="0" sz="2200" spc="-95">
                <a:latin typeface="Cambria"/>
                <a:cs typeface="Cambria"/>
              </a:rPr>
              <a:t>formda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105">
                <a:latin typeface="Cambria"/>
                <a:cs typeface="Cambria"/>
              </a:rPr>
              <a:t>(analitik)</a:t>
            </a:r>
            <a:r>
              <a:rPr dirty="0" sz="2200" spc="-15">
                <a:latin typeface="Cambria"/>
                <a:cs typeface="Cambria"/>
              </a:rPr>
              <a:t> </a:t>
            </a:r>
            <a:r>
              <a:rPr dirty="0" sz="2200" spc="-75">
                <a:latin typeface="Cambria"/>
                <a:cs typeface="Cambria"/>
              </a:rPr>
              <a:t>çözümü</a:t>
            </a:r>
            <a:r>
              <a:rPr dirty="0" sz="2200" spc="-45">
                <a:latin typeface="Cambria"/>
                <a:cs typeface="Cambria"/>
              </a:rPr>
              <a:t> </a:t>
            </a:r>
            <a:r>
              <a:rPr dirty="0" sz="2200" spc="-100">
                <a:latin typeface="Cambria"/>
                <a:cs typeface="Cambria"/>
              </a:rPr>
              <a:t>pratik</a:t>
            </a:r>
            <a:r>
              <a:rPr dirty="0" sz="2200" spc="-25">
                <a:latin typeface="Cambria"/>
                <a:cs typeface="Cambria"/>
              </a:rPr>
              <a:t> </a:t>
            </a:r>
            <a:r>
              <a:rPr dirty="0" sz="2200" spc="-85">
                <a:latin typeface="Cambria"/>
                <a:cs typeface="Cambria"/>
              </a:rPr>
              <a:t>olarak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imkansızdır.</a:t>
            </a:r>
            <a:r>
              <a:rPr dirty="0" sz="2200" spc="125">
                <a:latin typeface="Cambria"/>
                <a:cs typeface="Cambria"/>
              </a:rPr>
              <a:t> </a:t>
            </a:r>
            <a:r>
              <a:rPr dirty="0" sz="2200" spc="-120">
                <a:latin typeface="Cambria"/>
                <a:cs typeface="Cambria"/>
              </a:rPr>
              <a:t>Bu</a:t>
            </a:r>
            <a:r>
              <a:rPr dirty="0" sz="2200" spc="-20">
                <a:latin typeface="Cambria"/>
                <a:cs typeface="Cambria"/>
              </a:rPr>
              <a:t> </a:t>
            </a:r>
            <a:r>
              <a:rPr dirty="0" sz="2200" spc="-45">
                <a:latin typeface="Cambria"/>
                <a:cs typeface="Cambria"/>
              </a:rPr>
              <a:t>durum,</a:t>
            </a:r>
            <a:r>
              <a:rPr dirty="0" sz="2200" spc="-15">
                <a:latin typeface="Cambria"/>
                <a:cs typeface="Cambria"/>
              </a:rPr>
              <a:t> </a:t>
            </a:r>
            <a:r>
              <a:rPr dirty="0" sz="2200" spc="-25">
                <a:latin typeface="Cambria"/>
                <a:cs typeface="Cambria"/>
              </a:rPr>
              <a:t>sayısal</a:t>
            </a:r>
            <a:r>
              <a:rPr dirty="0" sz="2200" spc="-95">
                <a:latin typeface="Cambria"/>
                <a:cs typeface="Cambria"/>
              </a:rPr>
              <a:t> </a:t>
            </a:r>
            <a:r>
              <a:rPr dirty="0" sz="2200" spc="-45">
                <a:latin typeface="Cambria"/>
                <a:cs typeface="Cambria"/>
              </a:rPr>
              <a:t>simülasyonu</a:t>
            </a:r>
            <a:r>
              <a:rPr dirty="0" sz="2200" spc="150">
                <a:latin typeface="Cambria"/>
                <a:cs typeface="Cambria"/>
              </a:rPr>
              <a:t> </a:t>
            </a:r>
            <a:r>
              <a:rPr dirty="0" sz="2200" spc="-65">
                <a:latin typeface="Cambria"/>
                <a:cs typeface="Cambria"/>
              </a:rPr>
              <a:t>bir</a:t>
            </a:r>
            <a:r>
              <a:rPr dirty="0" sz="2200" spc="-50">
                <a:latin typeface="Cambria"/>
                <a:cs typeface="Cambria"/>
              </a:rPr>
              <a:t> </a:t>
            </a:r>
            <a:r>
              <a:rPr dirty="0" sz="2200" spc="-90">
                <a:latin typeface="Cambria"/>
                <a:cs typeface="Cambria"/>
              </a:rPr>
              <a:t>tercih</a:t>
            </a:r>
            <a:r>
              <a:rPr dirty="0" sz="2200" spc="-20">
                <a:latin typeface="Cambria"/>
                <a:cs typeface="Cambria"/>
              </a:rPr>
              <a:t> değil,</a:t>
            </a:r>
            <a:r>
              <a:rPr dirty="0" sz="2200" spc="5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mühendislik </a:t>
            </a:r>
            <a:r>
              <a:rPr dirty="0" sz="2200" spc="-125" b="1">
                <a:latin typeface="Cambria"/>
                <a:cs typeface="Cambria"/>
              </a:rPr>
              <a:t>açısından</a:t>
            </a:r>
            <a:r>
              <a:rPr dirty="0" sz="2200" spc="40" b="1">
                <a:latin typeface="Cambria"/>
                <a:cs typeface="Cambria"/>
              </a:rPr>
              <a:t> </a:t>
            </a:r>
            <a:r>
              <a:rPr dirty="0" sz="2200" spc="-210" b="1">
                <a:latin typeface="Cambria"/>
                <a:cs typeface="Cambria"/>
              </a:rPr>
              <a:t>bir</a:t>
            </a:r>
            <a:r>
              <a:rPr dirty="0" sz="2200" spc="-5" b="1">
                <a:latin typeface="Cambria"/>
                <a:cs typeface="Cambria"/>
              </a:rPr>
              <a:t> </a:t>
            </a:r>
            <a:r>
              <a:rPr dirty="0" sz="2200" spc="-130" b="1">
                <a:latin typeface="Cambria"/>
                <a:cs typeface="Cambria"/>
              </a:rPr>
              <a:t>zorunluluk</a:t>
            </a:r>
            <a:r>
              <a:rPr dirty="0" sz="2200" spc="125" b="1">
                <a:latin typeface="Cambria"/>
                <a:cs typeface="Cambria"/>
              </a:rPr>
              <a:t> </a:t>
            </a:r>
            <a:r>
              <a:rPr dirty="0" sz="2200" spc="-55">
                <a:latin typeface="Cambria"/>
                <a:cs typeface="Cambria"/>
              </a:rPr>
              <a:t>haline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 spc="-10">
                <a:latin typeface="Cambria"/>
                <a:cs typeface="Cambria"/>
              </a:rPr>
              <a:t>getirir.</a:t>
            </a:r>
            <a:endParaRPr sz="2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0823" y="409222"/>
            <a:ext cx="16048990" cy="6394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000" spc="70">
                <a:solidFill>
                  <a:srgbClr val="282828"/>
                </a:solidFill>
              </a:rPr>
              <a:t>Sayısal</a:t>
            </a:r>
            <a:r>
              <a:rPr dirty="0" sz="4000" spc="-430">
                <a:solidFill>
                  <a:srgbClr val="282828"/>
                </a:solidFill>
              </a:rPr>
              <a:t> </a:t>
            </a:r>
            <a:r>
              <a:rPr dirty="0" sz="4000" spc="-35"/>
              <a:t>Araç</a:t>
            </a:r>
            <a:r>
              <a:rPr dirty="0" sz="4000" spc="-455"/>
              <a:t> </a:t>
            </a:r>
            <a:r>
              <a:rPr dirty="0" sz="4000" spc="145">
                <a:solidFill>
                  <a:srgbClr val="262626"/>
                </a:solidFill>
              </a:rPr>
              <a:t>Seti:</a:t>
            </a:r>
            <a:r>
              <a:rPr dirty="0" sz="4000" spc="-470">
                <a:solidFill>
                  <a:srgbClr val="262626"/>
                </a:solidFill>
              </a:rPr>
              <a:t> </a:t>
            </a:r>
            <a:r>
              <a:rPr dirty="0" sz="4000" spc="50">
                <a:solidFill>
                  <a:srgbClr val="2D2D2D"/>
                </a:solidFill>
              </a:rPr>
              <a:t>Sinyal</a:t>
            </a:r>
            <a:r>
              <a:rPr dirty="0" sz="4000" spc="-509">
                <a:solidFill>
                  <a:srgbClr val="2D2D2D"/>
                </a:solidFill>
              </a:rPr>
              <a:t> </a:t>
            </a:r>
            <a:r>
              <a:rPr dirty="0" sz="4000">
                <a:solidFill>
                  <a:srgbClr val="262626"/>
                </a:solidFill>
              </a:rPr>
              <a:t>Filtreleme</a:t>
            </a:r>
            <a:r>
              <a:rPr dirty="0" sz="4000" spc="-130">
                <a:solidFill>
                  <a:srgbClr val="262626"/>
                </a:solidFill>
              </a:rPr>
              <a:t> </a:t>
            </a:r>
            <a:r>
              <a:rPr dirty="0" sz="4000" spc="60">
                <a:solidFill>
                  <a:srgbClr val="282828"/>
                </a:solidFill>
              </a:rPr>
              <a:t>ve</a:t>
            </a:r>
            <a:r>
              <a:rPr dirty="0" sz="4000" spc="-480">
                <a:solidFill>
                  <a:srgbClr val="282828"/>
                </a:solidFill>
              </a:rPr>
              <a:t> </a:t>
            </a:r>
            <a:r>
              <a:rPr dirty="0" sz="4000" spc="-40">
                <a:solidFill>
                  <a:srgbClr val="282828"/>
                </a:solidFill>
              </a:rPr>
              <a:t>Zaman</a:t>
            </a:r>
            <a:r>
              <a:rPr dirty="0" sz="4000" spc="-560">
                <a:solidFill>
                  <a:srgbClr val="282828"/>
                </a:solidFill>
              </a:rPr>
              <a:t> </a:t>
            </a:r>
            <a:r>
              <a:rPr dirty="0" sz="4000" spc="-85"/>
              <a:t>Domeni</a:t>
            </a:r>
            <a:r>
              <a:rPr dirty="0" sz="4000" spc="-470"/>
              <a:t> </a:t>
            </a:r>
            <a:r>
              <a:rPr dirty="0" sz="4000" spc="-10">
                <a:solidFill>
                  <a:srgbClr val="282828"/>
                </a:solidFill>
              </a:rPr>
              <a:t>İntegrasyonu</a:t>
            </a:r>
            <a:endParaRPr sz="4000"/>
          </a:p>
        </p:txBody>
      </p:sp>
      <p:sp>
        <p:nvSpPr>
          <p:cNvPr id="17" name="object 17" descr=""/>
          <p:cNvSpPr txBox="1"/>
          <p:nvPr/>
        </p:nvSpPr>
        <p:spPr>
          <a:xfrm>
            <a:off x="15707030" y="9448326"/>
            <a:ext cx="114935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5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6349992" y="9448326"/>
            <a:ext cx="988060" cy="22225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300" spc="-10" b="1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51252" y="1477433"/>
            <a:ext cx="7148830" cy="8890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 marR="5080" indent="15240">
              <a:lnSpc>
                <a:spcPts val="3300"/>
              </a:lnSpc>
              <a:spcBef>
                <a:spcPts val="375"/>
              </a:spcBef>
            </a:pPr>
            <a:r>
              <a:rPr dirty="0" sz="2900" spc="-120">
                <a:latin typeface="Lucida Sans Unicode"/>
                <a:cs typeface="Lucida Sans Unicode"/>
              </a:rPr>
              <a:t>Veri</a:t>
            </a:r>
            <a:r>
              <a:rPr dirty="0" sz="2900" spc="-275">
                <a:latin typeface="Lucida Sans Unicode"/>
                <a:cs typeface="Lucida Sans Unicode"/>
              </a:rPr>
              <a:t> </a:t>
            </a:r>
            <a:r>
              <a:rPr dirty="0" sz="2900" spc="-165">
                <a:latin typeface="Lucida Sans Unicode"/>
                <a:cs typeface="Lucida Sans Unicode"/>
              </a:rPr>
              <a:t>Temizleme</a:t>
            </a:r>
            <a:r>
              <a:rPr dirty="0" sz="2900" spc="-85">
                <a:latin typeface="Lucida Sans Unicode"/>
                <a:cs typeface="Lucida Sans Unicode"/>
              </a:rPr>
              <a:t> </a:t>
            </a:r>
            <a:r>
              <a:rPr dirty="0" sz="2900" spc="-120">
                <a:latin typeface="Lucida Sans Unicode"/>
                <a:cs typeface="Lucida Sans Unicode"/>
              </a:rPr>
              <a:t>Yöntemi:</a:t>
            </a:r>
            <a:r>
              <a:rPr dirty="0" sz="2900" spc="-204">
                <a:latin typeface="Lucida Sans Unicode"/>
                <a:cs typeface="Lucida Sans Unicode"/>
              </a:rPr>
              <a:t> </a:t>
            </a:r>
            <a:r>
              <a:rPr dirty="0" sz="2900" spc="-135">
                <a:latin typeface="Lucida Sans Unicode"/>
                <a:cs typeface="Lucida Sans Unicode"/>
              </a:rPr>
              <a:t>Trigonometrik</a:t>
            </a:r>
            <a:r>
              <a:rPr dirty="0" sz="2900" spc="-45">
                <a:latin typeface="Lucida Sans Unicode"/>
                <a:cs typeface="Lucida Sans Unicode"/>
              </a:rPr>
              <a:t> </a:t>
            </a:r>
            <a:r>
              <a:rPr dirty="0" sz="2900" spc="-25">
                <a:latin typeface="Lucida Sans Unicode"/>
                <a:cs typeface="Lucida Sans Unicode"/>
              </a:rPr>
              <a:t>En </a:t>
            </a:r>
            <a:r>
              <a:rPr dirty="0" sz="2900" spc="-100">
                <a:latin typeface="Lucida Sans Unicode"/>
                <a:cs typeface="Lucida Sans Unicode"/>
              </a:rPr>
              <a:t>Küçük</a:t>
            </a:r>
            <a:r>
              <a:rPr dirty="0" sz="2900" spc="-200">
                <a:latin typeface="Lucida Sans Unicode"/>
                <a:cs typeface="Lucida Sans Unicode"/>
              </a:rPr>
              <a:t> </a:t>
            </a:r>
            <a:r>
              <a:rPr dirty="0" sz="2900" spc="-10">
                <a:latin typeface="Lucida Sans Unicode"/>
                <a:cs typeface="Lucida Sans Unicode"/>
              </a:rPr>
              <a:t>fareler</a:t>
            </a:r>
            <a:endParaRPr sz="29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22312" y="4050947"/>
            <a:ext cx="169735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125">
                <a:latin typeface="Cambria"/>
                <a:cs typeface="Cambria"/>
              </a:rPr>
              <a:t>Gürültülü</a:t>
            </a:r>
            <a:r>
              <a:rPr dirty="0" sz="2150" spc="55">
                <a:latin typeface="Cambria"/>
                <a:cs typeface="Cambria"/>
              </a:rPr>
              <a:t> </a:t>
            </a:r>
            <a:r>
              <a:rPr dirty="0" sz="2150" spc="-114">
                <a:latin typeface="Cambria"/>
                <a:cs typeface="Cambria"/>
              </a:rPr>
              <a:t>Sinyal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89048" y="4044597"/>
            <a:ext cx="1914525" cy="62674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 marR="5080" indent="210185">
              <a:lnSpc>
                <a:spcPts val="2150"/>
              </a:lnSpc>
              <a:spcBef>
                <a:spcPts val="530"/>
              </a:spcBef>
            </a:pPr>
            <a:r>
              <a:rPr dirty="0" sz="2150" spc="-95">
                <a:latin typeface="Cambria"/>
                <a:cs typeface="Cambria"/>
              </a:rPr>
              <a:t>Trigonometrik Regresyon</a:t>
            </a:r>
            <a:r>
              <a:rPr dirty="0" sz="2150" spc="-5">
                <a:latin typeface="Cambria"/>
                <a:cs typeface="Cambria"/>
              </a:rPr>
              <a:t> </a:t>
            </a:r>
            <a:r>
              <a:rPr dirty="0" sz="2150" spc="-140">
                <a:latin typeface="Cambria"/>
                <a:cs typeface="Cambria"/>
              </a:rPr>
              <a:t>Filtresi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202339" y="4071055"/>
            <a:ext cx="202565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35">
                <a:latin typeface="Cambria"/>
                <a:cs typeface="Cambria"/>
              </a:rPr>
              <a:t>Temizlenmiş </a:t>
            </a:r>
            <a:r>
              <a:rPr dirty="0" sz="1950" spc="-20">
                <a:latin typeface="Cambria"/>
                <a:cs typeface="Cambria"/>
              </a:rPr>
              <a:t>SınyaI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7460" y="5022850"/>
            <a:ext cx="7382509" cy="2373630"/>
          </a:xfrm>
          <a:prstGeom prst="rect">
            <a:avLst/>
          </a:prstGeom>
        </p:spPr>
        <p:txBody>
          <a:bodyPr wrap="square" lIns="0" tIns="40640" rIns="0" bIns="0" rtlCol="0" vert="horz">
            <a:spAutoFit/>
          </a:bodyPr>
          <a:lstStyle/>
          <a:p>
            <a:pPr marL="286385" marR="5080" indent="-262890">
              <a:lnSpc>
                <a:spcPct val="92600"/>
              </a:lnSpc>
              <a:spcBef>
                <a:spcPts val="320"/>
              </a:spcBef>
              <a:tabLst>
                <a:tab pos="285115" algn="l"/>
              </a:tabLst>
            </a:pPr>
            <a:r>
              <a:rPr dirty="0" sz="2500" spc="-50">
                <a:solidFill>
                  <a:srgbClr val="2D2D2D"/>
                </a:solidFill>
                <a:latin typeface="Cambria"/>
                <a:cs typeface="Cambria"/>
              </a:rPr>
              <a:t>*</a:t>
            </a:r>
            <a:r>
              <a:rPr dirty="0" sz="2500">
                <a:solidFill>
                  <a:srgbClr val="2D2D2D"/>
                </a:solidFill>
                <a:latin typeface="Cambria"/>
                <a:cs typeface="Cambria"/>
              </a:rPr>
              <a:t>	</a:t>
            </a:r>
            <a:r>
              <a:rPr dirty="0" sz="2500" spc="-50">
                <a:latin typeface="Cambria"/>
                <a:cs typeface="Cambria"/>
              </a:rPr>
              <a:t>Sismik</a:t>
            </a:r>
            <a:r>
              <a:rPr dirty="0" sz="2500">
                <a:latin typeface="Cambria"/>
                <a:cs typeface="Cambria"/>
              </a:rPr>
              <a:t> </a:t>
            </a:r>
            <a:r>
              <a:rPr dirty="0" sz="2500" spc="-60">
                <a:latin typeface="Cambria"/>
                <a:cs typeface="Cambria"/>
              </a:rPr>
              <a:t>sinyallerin</a:t>
            </a:r>
            <a:r>
              <a:rPr dirty="0" sz="2500" spc="-10">
                <a:latin typeface="Cambria"/>
                <a:cs typeface="Cambria"/>
              </a:rPr>
              <a:t> </a:t>
            </a:r>
            <a:r>
              <a:rPr dirty="0" sz="2500" spc="-70">
                <a:latin typeface="Cambria"/>
                <a:cs typeface="Cambria"/>
              </a:rPr>
              <a:t>osilasyonlu</a:t>
            </a:r>
            <a:r>
              <a:rPr dirty="0" sz="2500" spc="-65">
                <a:latin typeface="Cambria"/>
                <a:cs typeface="Cambria"/>
              </a:rPr>
              <a:t> </a:t>
            </a:r>
            <a:r>
              <a:rPr dirty="0" sz="2500" spc="-50">
                <a:latin typeface="Cambria"/>
                <a:cs typeface="Cambria"/>
              </a:rPr>
              <a:t>(salınımlı)</a:t>
            </a:r>
            <a:r>
              <a:rPr dirty="0" sz="2500" spc="-6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doğası </a:t>
            </a:r>
            <a:r>
              <a:rPr dirty="0" sz="2550" spc="-75">
                <a:latin typeface="Cambria"/>
                <a:cs typeface="Cambria"/>
              </a:rPr>
              <a:t>nedeniyle,</a:t>
            </a:r>
            <a:r>
              <a:rPr dirty="0" sz="2550" spc="65">
                <a:latin typeface="Cambria"/>
                <a:cs typeface="Cambria"/>
              </a:rPr>
              <a:t> </a:t>
            </a:r>
            <a:r>
              <a:rPr dirty="0" sz="2550" spc="-80">
                <a:latin typeface="Cambria"/>
                <a:cs typeface="Cambria"/>
              </a:rPr>
              <a:t>polinom</a:t>
            </a:r>
            <a:r>
              <a:rPr dirty="0" sz="2550" spc="30">
                <a:latin typeface="Cambria"/>
                <a:cs typeface="Cambria"/>
              </a:rPr>
              <a:t> </a:t>
            </a:r>
            <a:r>
              <a:rPr dirty="0" sz="2550" spc="-80">
                <a:latin typeface="Cambria"/>
                <a:cs typeface="Cambria"/>
              </a:rPr>
              <a:t>tabanlı</a:t>
            </a:r>
            <a:r>
              <a:rPr dirty="0" sz="2550" spc="-60">
                <a:latin typeface="Cambria"/>
                <a:cs typeface="Cambria"/>
              </a:rPr>
              <a:t> </a:t>
            </a:r>
            <a:r>
              <a:rPr dirty="0" sz="2550" spc="-80">
                <a:latin typeface="Cambria"/>
                <a:cs typeface="Cambria"/>
              </a:rPr>
              <a:t>yaklaşımlar</a:t>
            </a:r>
            <a:r>
              <a:rPr dirty="0" sz="2550" spc="15">
                <a:latin typeface="Cambria"/>
                <a:cs typeface="Cambria"/>
              </a:rPr>
              <a:t> </a:t>
            </a:r>
            <a:r>
              <a:rPr dirty="0" sz="2550" spc="-95">
                <a:latin typeface="Cambria"/>
                <a:cs typeface="Cambria"/>
              </a:rPr>
              <a:t>yerine</a:t>
            </a:r>
            <a:r>
              <a:rPr dirty="0" sz="2550" spc="-45">
                <a:latin typeface="Cambria"/>
                <a:cs typeface="Cambria"/>
              </a:rPr>
              <a:t> </a:t>
            </a:r>
            <a:r>
              <a:rPr dirty="0" sz="2550" spc="-60">
                <a:latin typeface="Cambria"/>
                <a:cs typeface="Cambria"/>
              </a:rPr>
              <a:t>sinüs</a:t>
            </a:r>
            <a:r>
              <a:rPr dirty="0" sz="2550" spc="-85">
                <a:latin typeface="Cambria"/>
                <a:cs typeface="Cambria"/>
              </a:rPr>
              <a:t> </a:t>
            </a:r>
            <a:r>
              <a:rPr dirty="0" sz="2550" spc="-25">
                <a:latin typeface="Cambria"/>
                <a:cs typeface="Cambria"/>
              </a:rPr>
              <a:t>ve </a:t>
            </a:r>
            <a:r>
              <a:rPr dirty="0" sz="2600" spc="-130">
                <a:latin typeface="Cambria"/>
                <a:cs typeface="Cambria"/>
              </a:rPr>
              <a:t>kosinüs</a:t>
            </a:r>
            <a:r>
              <a:rPr dirty="0" sz="2600" spc="-15">
                <a:latin typeface="Cambria"/>
                <a:cs typeface="Cambria"/>
              </a:rPr>
              <a:t> </a:t>
            </a:r>
            <a:r>
              <a:rPr dirty="0" sz="2600" spc="-114">
                <a:latin typeface="Cambria"/>
                <a:cs typeface="Cambria"/>
              </a:rPr>
              <a:t>baz</a:t>
            </a:r>
            <a:r>
              <a:rPr dirty="0" sz="2600" spc="-90">
                <a:latin typeface="Cambria"/>
                <a:cs typeface="Cambria"/>
              </a:rPr>
              <a:t> </a:t>
            </a:r>
            <a:r>
              <a:rPr dirty="0" sz="2600" spc="-95">
                <a:latin typeface="Cambria"/>
                <a:cs typeface="Cambria"/>
              </a:rPr>
              <a:t>fonksiyonlarına</a:t>
            </a:r>
            <a:r>
              <a:rPr dirty="0" sz="2600" spc="-200">
                <a:latin typeface="Cambria"/>
                <a:cs typeface="Cambria"/>
              </a:rPr>
              <a:t> </a:t>
            </a:r>
            <a:r>
              <a:rPr dirty="0" sz="2600" spc="-90">
                <a:latin typeface="Cambria"/>
                <a:cs typeface="Cambria"/>
              </a:rPr>
              <a:t>dayalı</a:t>
            </a:r>
            <a:r>
              <a:rPr dirty="0" sz="2600" spc="90">
                <a:latin typeface="Cambria"/>
                <a:cs typeface="Cambria"/>
              </a:rPr>
              <a:t> </a:t>
            </a:r>
            <a:r>
              <a:rPr dirty="0" sz="2600" spc="-110">
                <a:latin typeface="Cambria"/>
                <a:cs typeface="Cambria"/>
              </a:rPr>
              <a:t>bir</a:t>
            </a:r>
            <a:r>
              <a:rPr dirty="0" sz="2600" spc="25">
                <a:latin typeface="Cambria"/>
                <a:cs typeface="Cambria"/>
              </a:rPr>
              <a:t> </a:t>
            </a:r>
            <a:r>
              <a:rPr dirty="0" sz="2600" spc="-120">
                <a:latin typeface="Cambria"/>
                <a:cs typeface="Cambria"/>
              </a:rPr>
              <a:t>model</a:t>
            </a:r>
            <a:r>
              <a:rPr dirty="0" sz="2600" spc="1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tercih </a:t>
            </a:r>
            <a:r>
              <a:rPr dirty="0" sz="2500" spc="-10">
                <a:latin typeface="Cambria"/>
                <a:cs typeface="Cambria"/>
              </a:rPr>
              <a:t>edilmiştir.</a:t>
            </a:r>
            <a:endParaRPr sz="2500">
              <a:latin typeface="Cambria"/>
              <a:cs typeface="Cambria"/>
            </a:endParaRPr>
          </a:p>
          <a:p>
            <a:pPr marL="271145" indent="-258445">
              <a:lnSpc>
                <a:spcPts val="2810"/>
              </a:lnSpc>
              <a:buClr>
                <a:srgbClr val="3D3D3D"/>
              </a:buClr>
              <a:buChar char="•"/>
              <a:tabLst>
                <a:tab pos="271145" algn="l"/>
              </a:tabLst>
            </a:pPr>
            <a:r>
              <a:rPr dirty="0" sz="2550" spc="-25">
                <a:latin typeface="Cambria"/>
                <a:cs typeface="Cambria"/>
              </a:rPr>
              <a:t>Model</a:t>
            </a:r>
            <a:r>
              <a:rPr dirty="0" sz="2550" spc="-95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Fonksiyonu:</a:t>
            </a:r>
            <a:endParaRPr sz="2550">
              <a:latin typeface="Cambria"/>
              <a:cs typeface="Cambria"/>
            </a:endParaRPr>
          </a:p>
          <a:p>
            <a:pPr algn="ctr" marR="1633220">
              <a:lnSpc>
                <a:spcPct val="100000"/>
              </a:lnSpc>
              <a:spcBef>
                <a:spcPts val="1839"/>
              </a:spcBef>
            </a:pPr>
            <a:r>
              <a:rPr dirty="0" sz="1950" spc="-50">
                <a:solidFill>
                  <a:srgbClr val="4B6070"/>
                </a:solidFill>
                <a:latin typeface="Consolas"/>
                <a:cs typeface="Consolas"/>
              </a:rPr>
              <a:t>3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809115" y="7494410"/>
            <a:ext cx="116839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50">
                <a:solidFill>
                  <a:srgbClr val="566D7C"/>
                </a:solidFill>
                <a:latin typeface="Cambria"/>
                <a:cs typeface="Cambria"/>
              </a:rPr>
              <a:t>i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478807" y="7411860"/>
            <a:ext cx="60198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36550" algn="l"/>
              </a:tabLst>
            </a:pPr>
            <a:r>
              <a:rPr dirty="0" sz="2600" spc="-50">
                <a:solidFill>
                  <a:srgbClr val="1F3D59"/>
                </a:solidFill>
                <a:latin typeface="Cambria"/>
                <a:cs typeface="Cambria"/>
              </a:rPr>
              <a:t>+</a:t>
            </a:r>
            <a:r>
              <a:rPr dirty="0" sz="2600">
                <a:solidFill>
                  <a:srgbClr val="1F3D59"/>
                </a:solidFill>
                <a:latin typeface="Cambria"/>
                <a:cs typeface="Cambria"/>
              </a:rPr>
              <a:t>	</a:t>
            </a:r>
            <a:r>
              <a:rPr dirty="0" sz="2600" spc="-345" i="1">
                <a:solidFill>
                  <a:srgbClr val="343434"/>
                </a:solidFill>
                <a:latin typeface="Cambria"/>
                <a:cs typeface="Cambria"/>
              </a:rPr>
              <a:t>ök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900706" y="7367410"/>
            <a:ext cx="361124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51710" algn="l"/>
              </a:tabLst>
            </a:pPr>
            <a:r>
              <a:rPr dirty="0" sz="2600">
                <a:solidFill>
                  <a:srgbClr val="566D7C"/>
                </a:solidFill>
                <a:latin typeface="Cambria"/>
                <a:cs typeface="Cambria"/>
              </a:rPr>
              <a:t>ot</a:t>
            </a:r>
            <a:r>
              <a:rPr dirty="0" sz="2600" spc="-75">
                <a:solidFill>
                  <a:srgbClr val="566D7C"/>
                </a:solidFill>
                <a:latin typeface="Cambria"/>
                <a:cs typeface="Cambria"/>
              </a:rPr>
              <a:t> </a:t>
            </a:r>
            <a:r>
              <a:rPr dirty="0" sz="2600" spc="-10">
                <a:solidFill>
                  <a:srgbClr val="314456"/>
                </a:solidFill>
                <a:latin typeface="Cambria"/>
                <a:cs typeface="Cambria"/>
              </a:rPr>
              <a:t>sin(kat)</a:t>
            </a:r>
            <a:r>
              <a:rPr dirty="0" sz="2600">
                <a:solidFill>
                  <a:srgbClr val="314456"/>
                </a:solidFill>
                <a:latin typeface="Cambria"/>
                <a:cs typeface="Cambria"/>
              </a:rPr>
              <a:t>	</a:t>
            </a:r>
            <a:r>
              <a:rPr dirty="0" sz="2600" spc="-215">
                <a:latin typeface="Cambria"/>
                <a:cs typeface="Cambria"/>
              </a:rPr>
              <a:t>COS(ÂWt)t.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01045" y="7411860"/>
            <a:ext cx="2317115" cy="7340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1165225" algn="l"/>
                <a:tab pos="1835785" algn="l"/>
              </a:tabLst>
            </a:pPr>
            <a:r>
              <a:rPr dirty="0" sz="2600">
                <a:latin typeface="Cambria"/>
                <a:cs typeface="Cambria"/>
              </a:rPr>
              <a:t>'</a:t>
            </a:r>
            <a:r>
              <a:rPr dirty="0" sz="2600" spc="105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/(t)</a:t>
            </a:r>
            <a:r>
              <a:rPr dirty="0" sz="2600">
                <a:latin typeface="Cambria"/>
                <a:cs typeface="Cambria"/>
              </a:rPr>
              <a:t>	</a:t>
            </a:r>
            <a:r>
              <a:rPr dirty="0" sz="2600" spc="-200">
                <a:latin typeface="Cambria"/>
                <a:cs typeface="Cambria"/>
              </a:rPr>
              <a:t>*0</a:t>
            </a:r>
            <a:r>
              <a:rPr dirty="0" sz="2600" spc="5">
                <a:latin typeface="Cambria"/>
                <a:cs typeface="Cambria"/>
              </a:rPr>
              <a:t> </a:t>
            </a:r>
            <a:r>
              <a:rPr dirty="0" sz="2600" spc="-50">
                <a:solidFill>
                  <a:srgbClr val="242424"/>
                </a:solidFill>
                <a:latin typeface="Cambria"/>
                <a:cs typeface="Cambria"/>
              </a:rPr>
              <a:t>+</a:t>
            </a:r>
            <a:r>
              <a:rPr dirty="0" sz="2600">
                <a:solidFill>
                  <a:srgbClr val="242424"/>
                </a:solidFill>
                <a:latin typeface="Cambria"/>
                <a:cs typeface="Cambria"/>
              </a:rPr>
              <a:t>	</a:t>
            </a:r>
            <a:r>
              <a:rPr dirty="0" baseline="-13888" sz="3900" spc="-75">
                <a:solidFill>
                  <a:srgbClr val="214B75"/>
                </a:solidFill>
                <a:latin typeface="Cambria"/>
                <a:cs typeface="Cambria"/>
              </a:rPr>
              <a:t>Z</a:t>
            </a:r>
            <a:endParaRPr baseline="-13888" sz="3900">
              <a:latin typeface="Cambria"/>
              <a:cs typeface="Cambria"/>
            </a:endParaRPr>
          </a:p>
          <a:p>
            <a:pPr algn="r" marR="43180">
              <a:lnSpc>
                <a:spcPct val="100000"/>
              </a:lnSpc>
              <a:spcBef>
                <a:spcPts val="80"/>
              </a:spcBef>
            </a:pPr>
            <a:r>
              <a:rPr dirty="0" sz="1950" spc="-50" i="1">
                <a:solidFill>
                  <a:srgbClr val="1C1C1C"/>
                </a:solidFill>
                <a:latin typeface="Cambria"/>
                <a:cs typeface="Cambria"/>
              </a:rPr>
              <a:t>k=</a:t>
            </a:r>
            <a:r>
              <a:rPr dirty="0" sz="1950" spc="150" i="1">
                <a:solidFill>
                  <a:srgbClr val="1C1C1C"/>
                </a:solidFill>
                <a:latin typeface="Cambria"/>
                <a:cs typeface="Cambria"/>
              </a:rPr>
              <a:t> </a:t>
            </a:r>
            <a:r>
              <a:rPr dirty="0" sz="1950" spc="-50">
                <a:solidFill>
                  <a:srgbClr val="0F0F0F"/>
                </a:solidFill>
                <a:latin typeface="Cambria"/>
                <a:cs typeface="Cambria"/>
              </a:rPr>
              <a:t>1</a:t>
            </a:r>
            <a:endParaRPr sz="1950">
              <a:latin typeface="Cambria"/>
              <a:cs typeface="Cambri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6818" y="8307210"/>
            <a:ext cx="6905625" cy="7797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84480" indent="-271780">
              <a:lnSpc>
                <a:spcPts val="3010"/>
              </a:lnSpc>
              <a:spcBef>
                <a:spcPts val="135"/>
              </a:spcBef>
              <a:buClr>
                <a:srgbClr val="232323"/>
              </a:buClr>
              <a:buChar char="•"/>
              <a:tabLst>
                <a:tab pos="284480" algn="l"/>
              </a:tabLst>
            </a:pPr>
            <a:r>
              <a:rPr dirty="0" sz="2600" spc="-140">
                <a:latin typeface="Cambria"/>
                <a:cs typeface="Cambria"/>
              </a:rPr>
              <a:t>Bu</a:t>
            </a:r>
            <a:r>
              <a:rPr dirty="0" sz="2600" spc="-10">
                <a:latin typeface="Cambria"/>
                <a:cs typeface="Cambria"/>
              </a:rPr>
              <a:t> </a:t>
            </a:r>
            <a:r>
              <a:rPr dirty="0" sz="2600" spc="-90">
                <a:latin typeface="Cambria"/>
                <a:cs typeface="Cambria"/>
              </a:rPr>
              <a:t>yaklaşım,</a:t>
            </a:r>
            <a:r>
              <a:rPr dirty="0" sz="2600" spc="-55">
                <a:latin typeface="Cambria"/>
                <a:cs typeface="Cambria"/>
              </a:rPr>
              <a:t> </a:t>
            </a:r>
            <a:r>
              <a:rPr dirty="0" sz="2600" spc="-90">
                <a:latin typeface="Cambria"/>
                <a:cs typeface="Cambria"/>
              </a:rPr>
              <a:t>sinyalin</a:t>
            </a:r>
            <a:r>
              <a:rPr dirty="0" sz="2600" spc="-50">
                <a:latin typeface="Cambria"/>
                <a:cs typeface="Cambria"/>
              </a:rPr>
              <a:t> </a:t>
            </a:r>
            <a:r>
              <a:rPr dirty="0" sz="2600" spc="-90">
                <a:latin typeface="Cambria"/>
                <a:cs typeface="Cambria"/>
              </a:rPr>
              <a:t>frekans</a:t>
            </a:r>
            <a:r>
              <a:rPr dirty="0" sz="2600" spc="-40">
                <a:latin typeface="Cambria"/>
                <a:cs typeface="Cambria"/>
              </a:rPr>
              <a:t> </a:t>
            </a:r>
            <a:r>
              <a:rPr dirty="0" sz="2600" spc="-75">
                <a:latin typeface="Cambria"/>
                <a:cs typeface="Cambria"/>
              </a:rPr>
              <a:t>içeriğini</a:t>
            </a:r>
            <a:r>
              <a:rPr dirty="0" sz="2600" spc="95">
                <a:latin typeface="Cambria"/>
                <a:cs typeface="Cambria"/>
              </a:rPr>
              <a:t> </a:t>
            </a:r>
            <a:r>
              <a:rPr dirty="0" sz="2600" spc="-165">
                <a:latin typeface="Cambria"/>
                <a:cs typeface="Cambria"/>
              </a:rPr>
              <a:t>ve</a:t>
            </a:r>
            <a:r>
              <a:rPr dirty="0" sz="2600" spc="-20">
                <a:latin typeface="Cambria"/>
                <a:cs typeface="Cambria"/>
              </a:rPr>
              <a:t> </a:t>
            </a:r>
            <a:r>
              <a:rPr dirty="0" sz="2600" spc="-100">
                <a:latin typeface="Cambria"/>
                <a:cs typeface="Cambria"/>
              </a:rPr>
              <a:t>periyodik</a:t>
            </a:r>
            <a:endParaRPr sz="2600">
              <a:latin typeface="Cambria"/>
              <a:cs typeface="Cambria"/>
            </a:endParaRPr>
          </a:p>
          <a:p>
            <a:pPr marL="294005">
              <a:lnSpc>
                <a:spcPts val="2890"/>
              </a:lnSpc>
            </a:pPr>
            <a:r>
              <a:rPr dirty="0" sz="2500" spc="-75">
                <a:latin typeface="Cambria"/>
                <a:cs typeface="Cambria"/>
              </a:rPr>
              <a:t>karakterini</a:t>
            </a:r>
            <a:r>
              <a:rPr dirty="0" sz="2500" spc="-10">
                <a:latin typeface="Cambria"/>
                <a:cs typeface="Cambria"/>
              </a:rPr>
              <a:t> </a:t>
            </a:r>
            <a:r>
              <a:rPr dirty="0" sz="2500" spc="-80">
                <a:latin typeface="Cambria"/>
                <a:cs typeface="Cambria"/>
              </a:rPr>
              <a:t>yüksek</a:t>
            </a:r>
            <a:r>
              <a:rPr dirty="0" sz="2500" spc="-60">
                <a:latin typeface="Cambria"/>
                <a:cs typeface="Cambria"/>
              </a:rPr>
              <a:t> </a:t>
            </a:r>
            <a:r>
              <a:rPr dirty="0" sz="2500" spc="-45">
                <a:latin typeface="Cambria"/>
                <a:cs typeface="Cambria"/>
              </a:rPr>
              <a:t>doğrulukla</a:t>
            </a:r>
            <a:r>
              <a:rPr dirty="0" sz="2500" spc="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korur.</a:t>
            </a:r>
            <a:endParaRPr sz="2500">
              <a:latin typeface="Cambria"/>
              <a:cs typeface="Cambri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236595" y="1477433"/>
            <a:ext cx="6661784" cy="88900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6670" marR="5080" indent="-14604">
              <a:lnSpc>
                <a:spcPts val="3300"/>
              </a:lnSpc>
              <a:spcBef>
                <a:spcPts val="375"/>
              </a:spcBef>
            </a:pPr>
            <a:r>
              <a:rPr dirty="0" sz="2900">
                <a:latin typeface="Cambria"/>
                <a:cs typeface="Cambria"/>
              </a:rPr>
              <a:t>Dinamik</a:t>
            </a:r>
            <a:r>
              <a:rPr dirty="0" sz="2900" spc="415">
                <a:latin typeface="Cambria"/>
                <a:cs typeface="Cambria"/>
              </a:rPr>
              <a:t> </a:t>
            </a:r>
            <a:r>
              <a:rPr dirty="0" sz="2900">
                <a:latin typeface="Cambria"/>
                <a:cs typeface="Cambria"/>
              </a:rPr>
              <a:t>Analiz</a:t>
            </a:r>
            <a:r>
              <a:rPr dirty="0" sz="2900" spc="325">
                <a:latin typeface="Cambria"/>
                <a:cs typeface="Cambria"/>
              </a:rPr>
              <a:t> </a:t>
            </a:r>
            <a:r>
              <a:rPr dirty="0" sz="2900">
                <a:latin typeface="Cambria"/>
                <a:cs typeface="Cambria"/>
              </a:rPr>
              <a:t>Yöntemleri:</a:t>
            </a:r>
            <a:r>
              <a:rPr dirty="0" sz="2900" spc="495">
                <a:latin typeface="Cambria"/>
                <a:cs typeface="Cambria"/>
              </a:rPr>
              <a:t> </a:t>
            </a:r>
            <a:r>
              <a:rPr dirty="0" sz="2900">
                <a:latin typeface="Cambria"/>
                <a:cs typeface="Cambria"/>
              </a:rPr>
              <a:t>Durum-</a:t>
            </a:r>
            <a:r>
              <a:rPr dirty="0" sz="2900" spc="-20">
                <a:latin typeface="Cambria"/>
                <a:cs typeface="Cambria"/>
              </a:rPr>
              <a:t>Uzay </a:t>
            </a:r>
            <a:r>
              <a:rPr dirty="0" sz="2900" spc="135">
                <a:latin typeface="Cambria"/>
                <a:cs typeface="Cambria"/>
              </a:rPr>
              <a:t>(State-</a:t>
            </a:r>
            <a:r>
              <a:rPr dirty="0" sz="2900" spc="160">
                <a:latin typeface="Cambria"/>
                <a:cs typeface="Cambria"/>
              </a:rPr>
              <a:t>Space)</a:t>
            </a:r>
            <a:r>
              <a:rPr dirty="0" sz="2900" spc="330">
                <a:latin typeface="Cambria"/>
                <a:cs typeface="Cambria"/>
              </a:rPr>
              <a:t> </a:t>
            </a:r>
            <a:r>
              <a:rPr dirty="0" sz="2900" spc="-10">
                <a:latin typeface="Cambria"/>
                <a:cs typeface="Cambria"/>
              </a:rPr>
              <a:t>Formu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480843" y="5022850"/>
            <a:ext cx="7312025" cy="1132205"/>
          </a:xfrm>
          <a:prstGeom prst="rect">
            <a:avLst/>
          </a:prstGeom>
        </p:spPr>
        <p:txBody>
          <a:bodyPr wrap="square" lIns="0" tIns="41275" rIns="0" bIns="0" rtlCol="0" vert="horz">
            <a:spAutoFit/>
          </a:bodyPr>
          <a:lstStyle/>
          <a:p>
            <a:pPr marL="14604" marR="5080" indent="-2540">
              <a:lnSpc>
                <a:spcPct val="92400"/>
              </a:lnSpc>
              <a:spcBef>
                <a:spcPts val="325"/>
              </a:spcBef>
            </a:pPr>
            <a:r>
              <a:rPr dirty="0" sz="2500">
                <a:latin typeface="Cambria"/>
                <a:cs typeface="Cambria"/>
              </a:rPr>
              <a:t>İkinci</a:t>
            </a:r>
            <a:r>
              <a:rPr dirty="0" sz="2500" spc="-105">
                <a:latin typeface="Cambria"/>
                <a:cs typeface="Cambria"/>
              </a:rPr>
              <a:t> </a:t>
            </a:r>
            <a:r>
              <a:rPr dirty="0" sz="2500" spc="-75">
                <a:latin typeface="Cambria"/>
                <a:cs typeface="Cambria"/>
              </a:rPr>
              <a:t>mertebeden</a:t>
            </a:r>
            <a:r>
              <a:rPr dirty="0" sz="2500" spc="75">
                <a:latin typeface="Cambria"/>
                <a:cs typeface="Cambria"/>
              </a:rPr>
              <a:t> </a:t>
            </a:r>
            <a:r>
              <a:rPr dirty="0" sz="2500" spc="-85">
                <a:latin typeface="Cambria"/>
                <a:cs typeface="Cambria"/>
              </a:rPr>
              <a:t>hareket</a:t>
            </a:r>
            <a:r>
              <a:rPr dirty="0" sz="2500" spc="-25">
                <a:latin typeface="Cambria"/>
                <a:cs typeface="Cambria"/>
              </a:rPr>
              <a:t> </a:t>
            </a:r>
            <a:r>
              <a:rPr dirty="0" sz="2500" spc="-30">
                <a:latin typeface="Cambria"/>
                <a:cs typeface="Cambria"/>
              </a:rPr>
              <a:t>denklemi,</a:t>
            </a:r>
            <a:r>
              <a:rPr dirty="0" sz="2500" spc="10">
                <a:latin typeface="Cambria"/>
                <a:cs typeface="Cambria"/>
              </a:rPr>
              <a:t> </a:t>
            </a:r>
            <a:r>
              <a:rPr dirty="0" sz="2500" spc="-65">
                <a:latin typeface="Cambria"/>
                <a:cs typeface="Cambria"/>
              </a:rPr>
              <a:t>sayısal</a:t>
            </a:r>
            <a:r>
              <a:rPr dirty="0" sz="2500" spc="-70">
                <a:latin typeface="Cambria"/>
                <a:cs typeface="Cambria"/>
              </a:rPr>
              <a:t> </a:t>
            </a:r>
            <a:r>
              <a:rPr dirty="0" sz="2500" spc="-35">
                <a:latin typeface="Cambria"/>
                <a:cs typeface="Cambria"/>
              </a:rPr>
              <a:t>çözüm</a:t>
            </a:r>
            <a:r>
              <a:rPr dirty="0" sz="2500" spc="-105">
                <a:latin typeface="Cambria"/>
                <a:cs typeface="Cambria"/>
              </a:rPr>
              <a:t> </a:t>
            </a:r>
            <a:r>
              <a:rPr dirty="0" sz="2500" spc="-20">
                <a:latin typeface="Cambria"/>
                <a:cs typeface="Cambria"/>
              </a:rPr>
              <a:t>için </a:t>
            </a:r>
            <a:r>
              <a:rPr dirty="0" sz="2600" spc="-70">
                <a:latin typeface="Cambria"/>
                <a:cs typeface="Cambria"/>
              </a:rPr>
              <a:t>birinci</a:t>
            </a:r>
            <a:r>
              <a:rPr dirty="0" sz="2600" spc="-60">
                <a:latin typeface="Cambria"/>
                <a:cs typeface="Cambria"/>
              </a:rPr>
              <a:t> </a:t>
            </a:r>
            <a:r>
              <a:rPr dirty="0" sz="2600" spc="-120">
                <a:latin typeface="Cambria"/>
                <a:cs typeface="Cambria"/>
              </a:rPr>
              <a:t>mertebeden</a:t>
            </a:r>
            <a:r>
              <a:rPr dirty="0" sz="2600" spc="75">
                <a:latin typeface="Cambria"/>
                <a:cs typeface="Cambria"/>
              </a:rPr>
              <a:t> </a:t>
            </a:r>
            <a:r>
              <a:rPr dirty="0" sz="2600" spc="-110">
                <a:latin typeface="Cambria"/>
                <a:cs typeface="Cambria"/>
              </a:rPr>
              <a:t>bir</a:t>
            </a:r>
            <a:r>
              <a:rPr dirty="0" sz="2600" spc="-90">
                <a:latin typeface="Cambria"/>
                <a:cs typeface="Cambria"/>
              </a:rPr>
              <a:t> </a:t>
            </a:r>
            <a:r>
              <a:rPr dirty="0" sz="2600" spc="-105">
                <a:latin typeface="Cambria"/>
                <a:cs typeface="Cambria"/>
              </a:rPr>
              <a:t>diferansiyel</a:t>
            </a:r>
            <a:r>
              <a:rPr dirty="0" sz="2600" spc="-40">
                <a:latin typeface="Cambria"/>
                <a:cs typeface="Cambria"/>
              </a:rPr>
              <a:t> </a:t>
            </a:r>
            <a:r>
              <a:rPr dirty="0" sz="2600" spc="-95">
                <a:latin typeface="Cambria"/>
                <a:cs typeface="Cambria"/>
              </a:rPr>
              <a:t>denklem</a:t>
            </a:r>
            <a:r>
              <a:rPr dirty="0" sz="2600" spc="3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sistemine </a:t>
            </a:r>
            <a:r>
              <a:rPr dirty="0" sz="2550" spc="-25">
                <a:latin typeface="Cambria"/>
                <a:cs typeface="Cambria"/>
              </a:rPr>
              <a:t>dönüştürülür: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531950" y="6058252"/>
            <a:ext cx="287909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5675" algn="l"/>
                <a:tab pos="1452245" algn="l"/>
                <a:tab pos="2087245" algn="l"/>
                <a:tab pos="2758440" algn="l"/>
              </a:tabLst>
            </a:pPr>
            <a:r>
              <a:rPr dirty="0" sz="2850">
                <a:latin typeface="Cambria"/>
                <a:cs typeface="Cambria"/>
              </a:rPr>
              <a:t>î(t)</a:t>
            </a:r>
            <a:r>
              <a:rPr dirty="0" sz="2850" spc="30">
                <a:latin typeface="Cambria"/>
                <a:cs typeface="Cambria"/>
              </a:rPr>
              <a:t> </a:t>
            </a:r>
            <a:r>
              <a:rPr dirty="0" sz="2850" spc="-50">
                <a:solidFill>
                  <a:srgbClr val="525252"/>
                </a:solidFill>
                <a:latin typeface="Cambria"/>
                <a:cs typeface="Cambria"/>
              </a:rPr>
              <a:t>=</a:t>
            </a:r>
            <a:r>
              <a:rPr dirty="0" sz="2850">
                <a:solidFill>
                  <a:srgbClr val="525252"/>
                </a:solidFill>
                <a:latin typeface="Cambria"/>
                <a:cs typeface="Cambria"/>
              </a:rPr>
              <a:t>	</a:t>
            </a:r>
            <a:r>
              <a:rPr dirty="0" sz="2850" spc="-25" i="1">
                <a:latin typeface="Cambria"/>
                <a:cs typeface="Cambria"/>
              </a:rPr>
              <a:t>Az</a:t>
            </a:r>
            <a:r>
              <a:rPr dirty="0" sz="2850" i="1">
                <a:latin typeface="Cambria"/>
                <a:cs typeface="Cambria"/>
              </a:rPr>
              <a:t>	I)</a:t>
            </a:r>
            <a:r>
              <a:rPr dirty="0" sz="2850" spc="-150" i="1">
                <a:latin typeface="Cambria"/>
                <a:cs typeface="Cambria"/>
              </a:rPr>
              <a:t> </a:t>
            </a:r>
            <a:r>
              <a:rPr dirty="0" sz="2850" spc="-50" i="1">
                <a:solidFill>
                  <a:srgbClr val="282828"/>
                </a:solidFill>
                <a:latin typeface="Cambria"/>
                <a:cs typeface="Cambria"/>
              </a:rPr>
              <a:t>+</a:t>
            </a:r>
            <a:r>
              <a:rPr dirty="0" sz="2850" i="1">
                <a:solidFill>
                  <a:srgbClr val="282828"/>
                </a:solidFill>
                <a:latin typeface="Cambria"/>
                <a:cs typeface="Cambria"/>
              </a:rPr>
              <a:t>	</a:t>
            </a:r>
            <a:r>
              <a:rPr dirty="0" sz="2850" spc="-25" i="1">
                <a:latin typeface="Cambria"/>
                <a:cs typeface="Cambria"/>
              </a:rPr>
              <a:t>Bil</a:t>
            </a:r>
            <a:r>
              <a:rPr dirty="0" sz="2850" i="1">
                <a:latin typeface="Cambria"/>
                <a:cs typeface="Cambria"/>
              </a:rPr>
              <a:t>	</a:t>
            </a:r>
            <a:r>
              <a:rPr dirty="0" sz="2850" spc="-95" i="1">
                <a:latin typeface="Cambria"/>
                <a:cs typeface="Cambria"/>
              </a:rPr>
              <a:t>t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454400" y="6474530"/>
            <a:ext cx="7430134" cy="261239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41910" marR="316230" indent="-3810">
              <a:lnSpc>
                <a:spcPct val="93900"/>
              </a:lnSpc>
              <a:spcBef>
                <a:spcPts val="305"/>
              </a:spcBef>
            </a:pPr>
            <a:r>
              <a:rPr dirty="0" sz="2550" spc="-60">
                <a:latin typeface="Cambria"/>
                <a:cs typeface="Cambria"/>
              </a:rPr>
              <a:t>Euler</a:t>
            </a:r>
            <a:r>
              <a:rPr dirty="0" sz="2550" spc="-105">
                <a:latin typeface="Cambria"/>
                <a:cs typeface="Cambria"/>
              </a:rPr>
              <a:t> </a:t>
            </a:r>
            <a:r>
              <a:rPr dirty="0" sz="2550" spc="-65">
                <a:latin typeface="Cambria"/>
                <a:cs typeface="Cambria"/>
              </a:rPr>
              <a:t>Yöntemi:</a:t>
            </a:r>
            <a:r>
              <a:rPr dirty="0" sz="2550" spc="-80">
                <a:latin typeface="Cambria"/>
                <a:cs typeface="Cambria"/>
              </a:rPr>
              <a:t> </a:t>
            </a:r>
            <a:r>
              <a:rPr dirty="0" sz="2550" spc="-65">
                <a:latin typeface="Cambria"/>
                <a:cs typeface="Cambria"/>
              </a:rPr>
              <a:t>Birinci</a:t>
            </a:r>
            <a:r>
              <a:rPr dirty="0" sz="2550" spc="-55">
                <a:latin typeface="Cambria"/>
                <a:cs typeface="Cambria"/>
              </a:rPr>
              <a:t> </a:t>
            </a:r>
            <a:r>
              <a:rPr dirty="0" sz="2550" spc="-90">
                <a:latin typeface="Cambria"/>
                <a:cs typeface="Cambria"/>
              </a:rPr>
              <a:t>mertebeden</a:t>
            </a:r>
            <a:r>
              <a:rPr dirty="0" sz="2550" spc="150">
                <a:latin typeface="Cambria"/>
                <a:cs typeface="Cambria"/>
              </a:rPr>
              <a:t> </a:t>
            </a:r>
            <a:r>
              <a:rPr dirty="0" sz="2550" spc="-95">
                <a:latin typeface="Cambria"/>
                <a:cs typeface="Cambria"/>
              </a:rPr>
              <a:t>bir</a:t>
            </a:r>
            <a:r>
              <a:rPr dirty="0" sz="2550" spc="-55">
                <a:latin typeface="Cambria"/>
                <a:cs typeface="Cambria"/>
              </a:rPr>
              <a:t> </a:t>
            </a:r>
            <a:r>
              <a:rPr dirty="0" sz="2550" spc="-105">
                <a:latin typeface="Cambria"/>
                <a:cs typeface="Cambria"/>
              </a:rPr>
              <a:t>yöntem</a:t>
            </a:r>
            <a:r>
              <a:rPr dirty="0" sz="2550" spc="5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olup, </a:t>
            </a:r>
            <a:r>
              <a:rPr dirty="0" sz="2600" spc="-114">
                <a:latin typeface="Cambria"/>
                <a:cs typeface="Cambria"/>
              </a:rPr>
              <a:t>yerel</a:t>
            </a:r>
            <a:r>
              <a:rPr dirty="0" sz="2600" spc="55">
                <a:latin typeface="Cambria"/>
                <a:cs typeface="Cambria"/>
              </a:rPr>
              <a:t> </a:t>
            </a:r>
            <a:r>
              <a:rPr dirty="0" sz="2600" spc="-140">
                <a:latin typeface="Cambria"/>
                <a:cs typeface="Cambria"/>
              </a:rPr>
              <a:t>kesme</a:t>
            </a:r>
            <a:r>
              <a:rPr dirty="0" sz="2600" spc="-25">
                <a:latin typeface="Cambria"/>
                <a:cs typeface="Cambria"/>
              </a:rPr>
              <a:t> </a:t>
            </a:r>
            <a:r>
              <a:rPr dirty="0" sz="2600" spc="-95">
                <a:latin typeface="Cambria"/>
                <a:cs typeface="Cambria"/>
              </a:rPr>
              <a:t>hatası</a:t>
            </a:r>
            <a:r>
              <a:rPr dirty="0" sz="2600" spc="114">
                <a:latin typeface="Cambria"/>
                <a:cs typeface="Cambria"/>
              </a:rPr>
              <a:t> </a:t>
            </a:r>
            <a:r>
              <a:rPr dirty="0" sz="2600" i="1">
                <a:solidFill>
                  <a:srgbClr val="214262"/>
                </a:solidFill>
                <a:latin typeface="Cambria"/>
                <a:cs typeface="Cambria"/>
              </a:rPr>
              <a:t>Ooh’)</a:t>
            </a:r>
            <a:r>
              <a:rPr dirty="0" sz="2600" spc="90" i="1">
                <a:solidFill>
                  <a:srgbClr val="214262"/>
                </a:solidFill>
                <a:latin typeface="Cambria"/>
                <a:cs typeface="Cambria"/>
              </a:rPr>
              <a:t> </a:t>
            </a:r>
            <a:r>
              <a:rPr dirty="0" sz="2600" spc="-110">
                <a:latin typeface="Cambria"/>
                <a:cs typeface="Cambria"/>
              </a:rPr>
              <a:t>mertebesindedir.</a:t>
            </a:r>
            <a:r>
              <a:rPr dirty="0" sz="2600" spc="20">
                <a:latin typeface="Cambria"/>
                <a:cs typeface="Cambria"/>
              </a:rPr>
              <a:t> </a:t>
            </a:r>
            <a:r>
              <a:rPr dirty="0" sz="2600" spc="-75">
                <a:latin typeface="Cambria"/>
                <a:cs typeface="Cambria"/>
              </a:rPr>
              <a:t>Hesaplama </a:t>
            </a:r>
            <a:r>
              <a:rPr dirty="0" sz="2550" spc="-80">
                <a:latin typeface="Cambria"/>
                <a:cs typeface="Cambria"/>
              </a:rPr>
              <a:t>maliyeti</a:t>
            </a:r>
            <a:r>
              <a:rPr dirty="0" sz="2550" spc="-55">
                <a:latin typeface="Cambria"/>
                <a:cs typeface="Cambria"/>
              </a:rPr>
              <a:t> </a:t>
            </a:r>
            <a:r>
              <a:rPr dirty="0" sz="2550" spc="-105">
                <a:latin typeface="Cambria"/>
                <a:cs typeface="Cambria"/>
              </a:rPr>
              <a:t>düşüktür</a:t>
            </a:r>
            <a:r>
              <a:rPr dirty="0" sz="2550" spc="30">
                <a:latin typeface="Cambria"/>
                <a:cs typeface="Cambria"/>
              </a:rPr>
              <a:t> </a:t>
            </a:r>
            <a:r>
              <a:rPr dirty="0" sz="2550" spc="-65">
                <a:latin typeface="Cambria"/>
                <a:cs typeface="Cambria"/>
              </a:rPr>
              <a:t>ancak</a:t>
            </a:r>
            <a:r>
              <a:rPr dirty="0" sz="2550" spc="-70">
                <a:latin typeface="Cambria"/>
                <a:cs typeface="Cambria"/>
              </a:rPr>
              <a:t> </a:t>
            </a:r>
            <a:r>
              <a:rPr dirty="0" sz="2550" spc="-85">
                <a:latin typeface="Cambria"/>
                <a:cs typeface="Cambria"/>
              </a:rPr>
              <a:t>kararlılık</a:t>
            </a:r>
            <a:r>
              <a:rPr dirty="0" sz="2550" spc="45">
                <a:latin typeface="Cambria"/>
                <a:cs typeface="Cambria"/>
              </a:rPr>
              <a:t> </a:t>
            </a:r>
            <a:r>
              <a:rPr dirty="0" sz="2550" spc="-75">
                <a:latin typeface="Cambria"/>
                <a:cs typeface="Cambria"/>
              </a:rPr>
              <a:t>bölgesi</a:t>
            </a:r>
            <a:r>
              <a:rPr dirty="0" sz="2550" spc="-5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dardır.</a:t>
            </a:r>
            <a:endParaRPr sz="2550">
              <a:latin typeface="Cambria"/>
              <a:cs typeface="Cambria"/>
            </a:endParaRPr>
          </a:p>
          <a:p>
            <a:pPr marL="38735">
              <a:lnSpc>
                <a:spcPts val="2815"/>
              </a:lnSpc>
            </a:pPr>
            <a:r>
              <a:rPr dirty="0" sz="2500" spc="-50">
                <a:latin typeface="Cambria"/>
                <a:cs typeface="Cambria"/>
              </a:rPr>
              <a:t>Runge-</a:t>
            </a:r>
            <a:r>
              <a:rPr dirty="0" sz="2500">
                <a:latin typeface="Cambria"/>
                <a:cs typeface="Cambria"/>
              </a:rPr>
              <a:t>Kutta</a:t>
            </a:r>
            <a:r>
              <a:rPr dirty="0" sz="2500" spc="-135">
                <a:latin typeface="Cambria"/>
                <a:cs typeface="Cambria"/>
              </a:rPr>
              <a:t> </a:t>
            </a:r>
            <a:r>
              <a:rPr dirty="0" sz="2500" spc="-160">
                <a:latin typeface="Cambria"/>
                <a:cs typeface="Cambria"/>
              </a:rPr>
              <a:t>4</a:t>
            </a:r>
            <a:r>
              <a:rPr dirty="0" sz="2500" spc="-125">
                <a:latin typeface="Cambria"/>
                <a:cs typeface="Cambria"/>
              </a:rPr>
              <a:t> </a:t>
            </a:r>
            <a:r>
              <a:rPr dirty="0" sz="2500" spc="-65">
                <a:latin typeface="Cambria"/>
                <a:cs typeface="Cambria"/>
              </a:rPr>
              <a:t>(RK4):</a:t>
            </a:r>
            <a:r>
              <a:rPr dirty="0" sz="2500" spc="-70">
                <a:latin typeface="Cambria"/>
                <a:cs typeface="Cambria"/>
              </a:rPr>
              <a:t> </a:t>
            </a:r>
            <a:r>
              <a:rPr dirty="0" sz="2500" spc="-35">
                <a:latin typeface="Cambria"/>
                <a:cs typeface="Cambria"/>
              </a:rPr>
              <a:t>Dördüncü</a:t>
            </a:r>
            <a:r>
              <a:rPr dirty="0" sz="2500" spc="10">
                <a:latin typeface="Cambria"/>
                <a:cs typeface="Cambria"/>
              </a:rPr>
              <a:t> </a:t>
            </a:r>
            <a:r>
              <a:rPr dirty="0" sz="2500" spc="-75">
                <a:latin typeface="Cambria"/>
                <a:cs typeface="Cambria"/>
              </a:rPr>
              <a:t>mertebeden</a:t>
            </a:r>
            <a:r>
              <a:rPr dirty="0" sz="2500" spc="65">
                <a:latin typeface="Cambria"/>
                <a:cs typeface="Cambria"/>
              </a:rPr>
              <a:t> </a:t>
            </a:r>
            <a:r>
              <a:rPr dirty="0" sz="2500" spc="-25">
                <a:latin typeface="Cambria"/>
                <a:cs typeface="Cambria"/>
              </a:rPr>
              <a:t>bir</a:t>
            </a:r>
            <a:endParaRPr sz="2500">
              <a:latin typeface="Cambria"/>
              <a:cs typeface="Cambria"/>
            </a:endParaRPr>
          </a:p>
          <a:p>
            <a:pPr marL="38100" marR="30480" indent="3810">
              <a:lnSpc>
                <a:spcPct val="93100"/>
              </a:lnSpc>
              <a:spcBef>
                <a:spcPts val="180"/>
              </a:spcBef>
            </a:pPr>
            <a:r>
              <a:rPr dirty="0" sz="2500" spc="-80">
                <a:latin typeface="Cambria"/>
                <a:cs typeface="Cambria"/>
              </a:rPr>
              <a:t>yöntem</a:t>
            </a:r>
            <a:r>
              <a:rPr dirty="0" sz="2500" spc="-60">
                <a:latin typeface="Cambria"/>
                <a:cs typeface="Cambria"/>
              </a:rPr>
              <a:t> </a:t>
            </a:r>
            <a:r>
              <a:rPr dirty="0" sz="2500">
                <a:latin typeface="Cambria"/>
                <a:cs typeface="Cambria"/>
              </a:rPr>
              <a:t>olup,</a:t>
            </a:r>
            <a:r>
              <a:rPr dirty="0" sz="2500" spc="-20">
                <a:latin typeface="Cambria"/>
                <a:cs typeface="Cambria"/>
              </a:rPr>
              <a:t> </a:t>
            </a:r>
            <a:r>
              <a:rPr dirty="0" sz="2500" spc="-90">
                <a:latin typeface="Cambria"/>
                <a:cs typeface="Cambria"/>
              </a:rPr>
              <a:t>yerel</a:t>
            </a:r>
            <a:r>
              <a:rPr dirty="0" sz="2500" spc="-50">
                <a:latin typeface="Cambria"/>
                <a:cs typeface="Cambria"/>
              </a:rPr>
              <a:t> </a:t>
            </a:r>
            <a:r>
              <a:rPr dirty="0" sz="2500" spc="-60">
                <a:latin typeface="Cambria"/>
                <a:cs typeface="Cambria"/>
              </a:rPr>
              <a:t>kesme</a:t>
            </a:r>
            <a:r>
              <a:rPr dirty="0" sz="2500" spc="5">
                <a:latin typeface="Cambria"/>
                <a:cs typeface="Cambria"/>
              </a:rPr>
              <a:t> </a:t>
            </a:r>
            <a:r>
              <a:rPr dirty="0" sz="2500" spc="-65">
                <a:latin typeface="Cambria"/>
                <a:cs typeface="Cambria"/>
              </a:rPr>
              <a:t>hatası</a:t>
            </a:r>
            <a:r>
              <a:rPr dirty="0" sz="2500" spc="-45">
                <a:latin typeface="Cambria"/>
                <a:cs typeface="Cambria"/>
              </a:rPr>
              <a:t> </a:t>
            </a:r>
            <a:r>
              <a:rPr dirty="0" sz="2500" spc="75">
                <a:solidFill>
                  <a:srgbClr val="1D416B"/>
                </a:solidFill>
                <a:latin typeface="Cambria"/>
                <a:cs typeface="Cambria"/>
              </a:rPr>
              <a:t>O(h</a:t>
            </a:r>
            <a:r>
              <a:rPr dirty="0" baseline="27027" sz="2775" spc="112">
                <a:solidFill>
                  <a:srgbClr val="1D416B"/>
                </a:solidFill>
                <a:latin typeface="Cambria"/>
                <a:cs typeface="Cambria"/>
              </a:rPr>
              <a:t>5</a:t>
            </a:r>
            <a:r>
              <a:rPr dirty="0" sz="2500" spc="75">
                <a:solidFill>
                  <a:srgbClr val="1D416B"/>
                </a:solidFill>
                <a:latin typeface="Cambria"/>
                <a:cs typeface="Cambria"/>
              </a:rPr>
              <a:t>)</a:t>
            </a:r>
            <a:r>
              <a:rPr dirty="0" sz="2500" spc="-190">
                <a:solidFill>
                  <a:srgbClr val="1D416B"/>
                </a:solidFill>
                <a:latin typeface="Cambria"/>
                <a:cs typeface="Cambria"/>
              </a:rPr>
              <a:t> </a:t>
            </a:r>
            <a:r>
              <a:rPr dirty="0" sz="2500" spc="-35">
                <a:latin typeface="Cambria"/>
                <a:cs typeface="Cambria"/>
              </a:rPr>
              <a:t>mertebesindedir. </a:t>
            </a:r>
            <a:r>
              <a:rPr dirty="0" sz="2600" spc="-65">
                <a:latin typeface="Cambria"/>
                <a:cs typeface="Cambria"/>
              </a:rPr>
              <a:t>Her</a:t>
            </a:r>
            <a:r>
              <a:rPr dirty="0" sz="2600" spc="-80">
                <a:latin typeface="Cambria"/>
                <a:cs typeface="Cambria"/>
              </a:rPr>
              <a:t> </a:t>
            </a:r>
            <a:r>
              <a:rPr dirty="0" sz="2600" spc="-130">
                <a:latin typeface="Cambria"/>
                <a:cs typeface="Cambria"/>
              </a:rPr>
              <a:t>adımda</a:t>
            </a:r>
            <a:r>
              <a:rPr dirty="0" sz="2600" spc="-15">
                <a:latin typeface="Cambria"/>
                <a:cs typeface="Cambria"/>
              </a:rPr>
              <a:t> </a:t>
            </a:r>
            <a:r>
              <a:rPr dirty="0" sz="2600" spc="-140">
                <a:latin typeface="Cambria"/>
                <a:cs typeface="Cambria"/>
              </a:rPr>
              <a:t>dört</a:t>
            </a:r>
            <a:r>
              <a:rPr dirty="0" sz="2600" spc="-5">
                <a:latin typeface="Cambria"/>
                <a:cs typeface="Cambria"/>
              </a:rPr>
              <a:t> </a:t>
            </a:r>
            <a:r>
              <a:rPr dirty="0" sz="2600" spc="-70">
                <a:latin typeface="Cambria"/>
                <a:cs typeface="Cambria"/>
              </a:rPr>
              <a:t>farklı </a:t>
            </a:r>
            <a:r>
              <a:rPr dirty="0" sz="2600" spc="-85">
                <a:latin typeface="Cambria"/>
                <a:cs typeface="Cambria"/>
              </a:rPr>
              <a:t>eğim</a:t>
            </a:r>
            <a:r>
              <a:rPr dirty="0" sz="2600" spc="-60">
                <a:latin typeface="Cambria"/>
                <a:cs typeface="Cambria"/>
              </a:rPr>
              <a:t> </a:t>
            </a:r>
            <a:r>
              <a:rPr dirty="0" sz="2600" spc="-90">
                <a:latin typeface="Cambria"/>
                <a:cs typeface="Cambria"/>
              </a:rPr>
              <a:t>hesabı</a:t>
            </a:r>
            <a:r>
              <a:rPr dirty="0" sz="2600" spc="35">
                <a:latin typeface="Cambria"/>
                <a:cs typeface="Cambria"/>
              </a:rPr>
              <a:t> </a:t>
            </a:r>
            <a:r>
              <a:rPr dirty="0" sz="2600" spc="-150">
                <a:latin typeface="Cambria"/>
                <a:cs typeface="Cambria"/>
              </a:rPr>
              <a:t>yaparak</a:t>
            </a:r>
            <a:r>
              <a:rPr dirty="0" sz="2600" spc="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yüksek </a:t>
            </a:r>
            <a:r>
              <a:rPr dirty="0" sz="2500" spc="-50">
                <a:latin typeface="Cambria"/>
                <a:cs typeface="Cambria"/>
              </a:rPr>
              <a:t>doğruluk</a:t>
            </a:r>
            <a:r>
              <a:rPr dirty="0" sz="2500" spc="-30">
                <a:latin typeface="Cambria"/>
                <a:cs typeface="Cambria"/>
              </a:rPr>
              <a:t> </a:t>
            </a:r>
            <a:r>
              <a:rPr dirty="0" sz="2500" spc="-85">
                <a:latin typeface="Cambria"/>
                <a:cs typeface="Cambria"/>
              </a:rPr>
              <a:t>ve</a:t>
            </a:r>
            <a:r>
              <a:rPr dirty="0" sz="2500" spc="-55">
                <a:latin typeface="Cambria"/>
                <a:cs typeface="Cambria"/>
              </a:rPr>
              <a:t> </a:t>
            </a:r>
            <a:r>
              <a:rPr dirty="0" sz="2500" spc="-65">
                <a:latin typeface="Cambria"/>
                <a:cs typeface="Cambria"/>
              </a:rPr>
              <a:t>kararlılık</a:t>
            </a:r>
            <a:r>
              <a:rPr dirty="0" sz="2500" spc="-25">
                <a:latin typeface="Cambria"/>
                <a:cs typeface="Cambria"/>
              </a:rPr>
              <a:t> </a:t>
            </a:r>
            <a:r>
              <a:rPr dirty="0" sz="2500" spc="-10">
                <a:latin typeface="Cambria"/>
                <a:cs typeface="Cambria"/>
              </a:rPr>
              <a:t>sağlar.</a:t>
            </a:r>
            <a:endParaRPr sz="25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900" y="4546600"/>
            <a:ext cx="6070600" cy="19304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9200" y="4000500"/>
            <a:ext cx="6134100" cy="29083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4851400" y="43793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5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29633">
            <a:solidFill>
              <a:srgbClr val="9C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4909800" y="43793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29633">
            <a:solidFill>
              <a:srgbClr val="9C383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4897100" y="4150783"/>
            <a:ext cx="347345" cy="0"/>
          </a:xfrm>
          <a:custGeom>
            <a:avLst/>
            <a:gdLst/>
            <a:ahLst/>
            <a:cxnLst/>
            <a:rect l="l" t="t" r="r" b="b"/>
            <a:pathLst>
              <a:path w="347344" h="0">
                <a:moveTo>
                  <a:pt x="0" y="0"/>
                </a:moveTo>
                <a:lnTo>
                  <a:pt x="347133" y="0"/>
                </a:lnTo>
              </a:path>
            </a:pathLst>
          </a:custGeom>
          <a:ln w="29633">
            <a:solidFill>
              <a:srgbClr val="3F648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4700" y="5016500"/>
            <a:ext cx="203200" cy="9906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83700" y="5854700"/>
            <a:ext cx="152400" cy="3175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25000" y="6426200"/>
            <a:ext cx="215900" cy="1397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83700" y="6235700"/>
            <a:ext cx="190500" cy="3302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00500" y="7124700"/>
            <a:ext cx="88900" cy="1270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973300" y="7124700"/>
            <a:ext cx="88900" cy="127000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96400" y="4406900"/>
            <a:ext cx="444500" cy="254000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283700" y="5422900"/>
            <a:ext cx="444500" cy="12700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75">
                <a:solidFill>
                  <a:srgbClr val="282828"/>
                </a:solidFill>
              </a:rPr>
              <a:t>Simülasyon</a:t>
            </a:r>
            <a:r>
              <a:rPr dirty="0" spc="-160">
                <a:solidFill>
                  <a:srgbClr val="282828"/>
                </a:solidFill>
              </a:rPr>
              <a:t> </a:t>
            </a:r>
            <a:r>
              <a:rPr dirty="0" spc="-45">
                <a:solidFill>
                  <a:srgbClr val="2D2D2D"/>
                </a:solidFill>
              </a:rPr>
              <a:t>Sonuçları:</a:t>
            </a:r>
            <a:r>
              <a:rPr dirty="0" spc="-250">
                <a:solidFill>
                  <a:srgbClr val="2D2D2D"/>
                </a:solidFill>
              </a:rPr>
              <a:t> </a:t>
            </a:r>
            <a:r>
              <a:rPr dirty="0" spc="-125"/>
              <a:t>Yöntemlerin</a:t>
            </a:r>
            <a:r>
              <a:rPr dirty="0" spc="-225"/>
              <a:t> </a:t>
            </a:r>
            <a:r>
              <a:rPr dirty="0" spc="-70">
                <a:solidFill>
                  <a:srgbClr val="262626"/>
                </a:solidFill>
              </a:rPr>
              <a:t>Performans</a:t>
            </a:r>
            <a:r>
              <a:rPr dirty="0" spc="-200">
                <a:solidFill>
                  <a:srgbClr val="262626"/>
                </a:solidFill>
              </a:rPr>
              <a:t> </a:t>
            </a:r>
            <a:r>
              <a:rPr dirty="0" spc="-10"/>
              <a:t>Karşılaştırması</a:t>
            </a:r>
          </a:p>
        </p:txBody>
      </p:sp>
      <p:sp>
        <p:nvSpPr>
          <p:cNvPr id="36" name="object 36" descr=""/>
          <p:cNvSpPr txBox="1"/>
          <p:nvPr/>
        </p:nvSpPr>
        <p:spPr>
          <a:xfrm>
            <a:off x="16107790" y="9460190"/>
            <a:ext cx="123380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>
                <a:latin typeface="Lucida Sans Unicode"/>
                <a:cs typeface="Lucida Sans Unicode"/>
              </a:rPr>
              <a:t>G</a:t>
            </a:r>
            <a:r>
              <a:rPr dirty="0" sz="1300" spc="484">
                <a:latin typeface="Lucida Sans Unicode"/>
                <a:cs typeface="Lucida Sans Unicode"/>
              </a:rPr>
              <a:t> </a:t>
            </a:r>
            <a:r>
              <a:rPr dirty="0" sz="1300" spc="-30">
                <a:latin typeface="Lucida Sans Unicode"/>
                <a:cs typeface="Lucida Sans Unicode"/>
              </a:rPr>
              <a:t>NotebookLM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61105" y="1122891"/>
            <a:ext cx="8648700" cy="1590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195"/>
              </a:lnSpc>
              <a:spcBef>
                <a:spcPts val="105"/>
              </a:spcBef>
            </a:pPr>
            <a:r>
              <a:rPr dirty="0" sz="2700" spc="-80">
                <a:latin typeface="Lucida Sans Unicode"/>
                <a:cs typeface="Lucida Sans Unicode"/>
              </a:rPr>
              <a:t>Simülasyon</a:t>
            </a:r>
            <a:r>
              <a:rPr dirty="0" sz="2700" spc="-60">
                <a:latin typeface="Lucida Sans Unicode"/>
                <a:cs typeface="Lucida Sans Unicode"/>
              </a:rPr>
              <a:t> </a:t>
            </a:r>
            <a:r>
              <a:rPr dirty="0" sz="2700" spc="-10">
                <a:latin typeface="Lucida Sans Unicode"/>
                <a:cs typeface="Lucida Sans Unicode"/>
              </a:rPr>
              <a:t>Senaryosu:</a:t>
            </a:r>
            <a:endParaRPr sz="2700">
              <a:latin typeface="Lucida Sans Unicode"/>
              <a:cs typeface="Lucida Sans Unicode"/>
            </a:endParaRPr>
          </a:p>
          <a:p>
            <a:pPr marL="480059" indent="-259079">
              <a:lnSpc>
                <a:spcPts val="3040"/>
              </a:lnSpc>
              <a:buClr>
                <a:srgbClr val="343434"/>
              </a:buClr>
              <a:buChar char="•"/>
              <a:tabLst>
                <a:tab pos="480059" algn="l"/>
              </a:tabLst>
            </a:pPr>
            <a:r>
              <a:rPr dirty="0" sz="2600">
                <a:latin typeface="Cambria"/>
                <a:cs typeface="Cambria"/>
              </a:rPr>
              <a:t>Ortam:</a:t>
            </a:r>
            <a:r>
              <a:rPr dirty="0" sz="2600" spc="-145">
                <a:latin typeface="Cambria"/>
                <a:cs typeface="Cambria"/>
              </a:rPr>
              <a:t> </a:t>
            </a:r>
            <a:r>
              <a:rPr dirty="0" sz="2600" spc="-60">
                <a:latin typeface="Cambria"/>
                <a:cs typeface="Cambria"/>
              </a:rPr>
              <a:t>Python</a:t>
            </a:r>
            <a:r>
              <a:rPr dirty="0" sz="2600" spc="-65">
                <a:latin typeface="Cambria"/>
                <a:cs typeface="Cambria"/>
              </a:rPr>
              <a:t> </a:t>
            </a:r>
            <a:r>
              <a:rPr dirty="0" sz="2600" spc="-70">
                <a:latin typeface="Cambria"/>
                <a:cs typeface="Cambria"/>
              </a:rPr>
              <a:t>programlama</a:t>
            </a:r>
            <a:r>
              <a:rPr dirty="0" sz="2600" spc="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dili</a:t>
            </a:r>
            <a:r>
              <a:rPr dirty="0" sz="2600" spc="-45">
                <a:latin typeface="Cambria"/>
                <a:cs typeface="Cambria"/>
              </a:rPr>
              <a:t> </a:t>
            </a:r>
            <a:r>
              <a:rPr dirty="0" sz="2600" spc="-114">
                <a:latin typeface="Cambria"/>
                <a:cs typeface="Cambria"/>
              </a:rPr>
              <a:t>ve</a:t>
            </a:r>
            <a:r>
              <a:rPr dirty="0" sz="2600" spc="-80">
                <a:latin typeface="Cambria"/>
                <a:cs typeface="Cambria"/>
              </a:rPr>
              <a:t> </a:t>
            </a:r>
            <a:r>
              <a:rPr dirty="0" sz="2600" spc="-55">
                <a:latin typeface="Cambria"/>
                <a:cs typeface="Cambria"/>
              </a:rPr>
              <a:t>NumPy</a:t>
            </a:r>
            <a:r>
              <a:rPr dirty="0" sz="2600" spc="6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kütüphanesi.</a:t>
            </a:r>
            <a:endParaRPr sz="2600">
              <a:latin typeface="Cambria"/>
              <a:cs typeface="Cambria"/>
            </a:endParaRPr>
          </a:p>
          <a:p>
            <a:pPr marL="493395" indent="-272415">
              <a:lnSpc>
                <a:spcPts val="3050"/>
              </a:lnSpc>
              <a:buClr>
                <a:srgbClr val="3B3B3B"/>
              </a:buClr>
              <a:buChar char="•"/>
              <a:tabLst>
                <a:tab pos="493395" algn="l"/>
              </a:tabLst>
            </a:pPr>
            <a:r>
              <a:rPr dirty="0" sz="2600" spc="-20">
                <a:latin typeface="Cambria"/>
                <a:cs typeface="Cambria"/>
              </a:rPr>
              <a:t>Model:</a:t>
            </a:r>
            <a:r>
              <a:rPr dirty="0" sz="2600" spc="-125">
                <a:latin typeface="Cambria"/>
                <a:cs typeface="Cambria"/>
              </a:rPr>
              <a:t> </a:t>
            </a:r>
            <a:r>
              <a:rPr dirty="0" sz="2600" spc="60">
                <a:latin typeface="Cambria"/>
                <a:cs typeface="Cambria"/>
              </a:rPr>
              <a:t>S</a:t>
            </a:r>
            <a:r>
              <a:rPr dirty="0" sz="2600" spc="-145">
                <a:latin typeface="Cambria"/>
                <a:cs typeface="Cambria"/>
              </a:rPr>
              <a:t> </a:t>
            </a:r>
            <a:r>
              <a:rPr dirty="0" sz="2600" spc="-55">
                <a:latin typeface="Cambria"/>
                <a:cs typeface="Cambria"/>
              </a:rPr>
              <a:t>katlı</a:t>
            </a:r>
            <a:r>
              <a:rPr dirty="0" sz="2600" spc="-5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bir</a:t>
            </a:r>
            <a:r>
              <a:rPr dirty="0" sz="2600" spc="-60">
                <a:latin typeface="Cambria"/>
                <a:cs typeface="Cambria"/>
              </a:rPr>
              <a:t> </a:t>
            </a:r>
            <a:r>
              <a:rPr dirty="0" sz="2600" spc="-45">
                <a:latin typeface="Cambria"/>
                <a:cs typeface="Cambria"/>
              </a:rPr>
              <a:t>"Shear</a:t>
            </a:r>
            <a:r>
              <a:rPr dirty="0" sz="2600" spc="-25">
                <a:latin typeface="Cambria"/>
                <a:cs typeface="Cambria"/>
              </a:rPr>
              <a:t> </a:t>
            </a:r>
            <a:r>
              <a:rPr dirty="0" sz="2600" spc="-50">
                <a:latin typeface="Cambria"/>
                <a:cs typeface="Cambria"/>
              </a:rPr>
              <a:t>Building"</a:t>
            </a:r>
            <a:r>
              <a:rPr dirty="0" sz="2600" spc="-80">
                <a:latin typeface="Cambria"/>
                <a:cs typeface="Cambria"/>
              </a:rPr>
              <a:t> </a:t>
            </a:r>
            <a:r>
              <a:rPr dirty="0" sz="2600" spc="-75">
                <a:latin typeface="Cambria"/>
                <a:cs typeface="Cambria"/>
              </a:rPr>
              <a:t>(Kayma</a:t>
            </a:r>
            <a:r>
              <a:rPr dirty="0" sz="2600" spc="-65">
                <a:latin typeface="Cambria"/>
                <a:cs typeface="Cambria"/>
              </a:rPr>
              <a:t> </a:t>
            </a:r>
            <a:r>
              <a:rPr dirty="0" sz="2600" spc="-60">
                <a:latin typeface="Cambria"/>
                <a:cs typeface="Cambria"/>
              </a:rPr>
              <a:t>Çerçevesi)</a:t>
            </a:r>
            <a:r>
              <a:rPr dirty="0" sz="2600" spc="-4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yapısı.</a:t>
            </a:r>
            <a:endParaRPr sz="2600">
              <a:latin typeface="Cambria"/>
              <a:cs typeface="Cambria"/>
            </a:endParaRPr>
          </a:p>
          <a:p>
            <a:pPr marL="492125" indent="-270510">
              <a:lnSpc>
                <a:spcPts val="3025"/>
              </a:lnSpc>
              <a:buClr>
                <a:srgbClr val="383838"/>
              </a:buClr>
              <a:buChar char="•"/>
              <a:tabLst>
                <a:tab pos="492125" algn="l"/>
              </a:tabLst>
            </a:pPr>
            <a:r>
              <a:rPr dirty="0" sz="2550">
                <a:latin typeface="Cambria"/>
                <a:cs typeface="Cambria"/>
              </a:rPr>
              <a:t>Parametreler:</a:t>
            </a:r>
            <a:r>
              <a:rPr dirty="0" sz="2550" spc="80">
                <a:latin typeface="Cambria"/>
                <a:cs typeface="Cambria"/>
              </a:rPr>
              <a:t> </a:t>
            </a:r>
            <a:r>
              <a:rPr dirty="0" sz="2550" spc="-50">
                <a:latin typeface="Cambria"/>
                <a:cs typeface="Cambria"/>
              </a:rPr>
              <a:t>At</a:t>
            </a:r>
            <a:r>
              <a:rPr dirty="0" sz="2550" spc="-95">
                <a:latin typeface="Cambria"/>
                <a:cs typeface="Cambria"/>
              </a:rPr>
              <a:t> </a:t>
            </a:r>
            <a:r>
              <a:rPr dirty="0" sz="2550">
                <a:latin typeface="Cambria"/>
                <a:cs typeface="Cambria"/>
              </a:rPr>
              <a:t>=</a:t>
            </a:r>
            <a:r>
              <a:rPr dirty="0" sz="2550" spc="-140">
                <a:latin typeface="Cambria"/>
                <a:cs typeface="Cambria"/>
              </a:rPr>
              <a:t> </a:t>
            </a:r>
            <a:r>
              <a:rPr dirty="0" sz="2550" spc="-25">
                <a:latin typeface="Cambria"/>
                <a:cs typeface="Cambria"/>
              </a:rPr>
              <a:t>0.02s</a:t>
            </a:r>
            <a:r>
              <a:rPr dirty="0" sz="2550" spc="-114">
                <a:latin typeface="Cambria"/>
                <a:cs typeface="Cambria"/>
              </a:rPr>
              <a:t> </a:t>
            </a:r>
            <a:r>
              <a:rPr dirty="0" sz="2550" spc="-35">
                <a:latin typeface="Cambria"/>
                <a:cs typeface="Cambria"/>
              </a:rPr>
              <a:t>sabit</a:t>
            </a:r>
            <a:r>
              <a:rPr dirty="0" sz="2550" spc="5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zaman</a:t>
            </a:r>
            <a:r>
              <a:rPr dirty="0" sz="2550">
                <a:latin typeface="Cambria"/>
                <a:cs typeface="Cambria"/>
              </a:rPr>
              <a:t> </a:t>
            </a:r>
            <a:r>
              <a:rPr dirty="0" sz="2550" spc="-20">
                <a:latin typeface="Cambria"/>
                <a:cs typeface="Cambria"/>
              </a:rPr>
              <a:t>adıml</a:t>
            </a:r>
            <a:r>
              <a:rPr dirty="0" sz="2550" spc="-80">
                <a:latin typeface="Cambria"/>
                <a:cs typeface="Cambria"/>
              </a:rPr>
              <a:t> </a:t>
            </a:r>
            <a:r>
              <a:rPr dirty="0" sz="2550" spc="-10">
                <a:latin typeface="Cambria"/>
                <a:cs typeface="Cambria"/>
              </a:rPr>
              <a:t>kullanılmıştır.</a:t>
            </a:r>
            <a:endParaRPr sz="2550">
              <a:latin typeface="Cambria"/>
              <a:cs typeface="Cambri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35327" y="4398080"/>
            <a:ext cx="129539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-50">
                <a:solidFill>
                  <a:srgbClr val="262626"/>
                </a:solidFill>
                <a:latin typeface="Lucida Sans Unicode"/>
                <a:cs typeface="Lucida Sans Unicode"/>
              </a:rPr>
              <a:t>5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31046" y="5348463"/>
            <a:ext cx="16446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10">
                <a:solidFill>
                  <a:srgbClr val="2A2A2A"/>
                </a:solidFill>
                <a:latin typeface="Courier New"/>
                <a:cs typeface="Courier New"/>
              </a:rPr>
              <a:t>0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070260" y="2824036"/>
            <a:ext cx="14790419" cy="1130935"/>
          </a:xfrm>
          <a:prstGeom prst="rect">
            <a:avLst/>
          </a:prstGeom>
        </p:spPr>
        <p:txBody>
          <a:bodyPr wrap="square" lIns="0" tIns="242570" rIns="0" bIns="0" rtlCol="0" vert="horz">
            <a:spAutoFit/>
          </a:bodyPr>
          <a:lstStyle/>
          <a:p>
            <a:pPr marL="617220">
              <a:lnSpc>
                <a:spcPct val="100000"/>
              </a:lnSpc>
              <a:spcBef>
                <a:spcPts val="1910"/>
              </a:spcBef>
              <a:tabLst>
                <a:tab pos="7218045" algn="l"/>
              </a:tabLst>
            </a:pPr>
            <a:r>
              <a:rPr dirty="0" sz="2750" spc="-30">
                <a:latin typeface="Lucida Sans Unicode"/>
                <a:cs typeface="Lucida Sans Unicode"/>
              </a:rPr>
              <a:t>Sinyal</a:t>
            </a:r>
            <a:r>
              <a:rPr dirty="0" sz="2750" spc="-330">
                <a:latin typeface="Lucida Sans Unicode"/>
                <a:cs typeface="Lucida Sans Unicode"/>
              </a:rPr>
              <a:t> </a:t>
            </a:r>
            <a:r>
              <a:rPr dirty="0" sz="2750" spc="-70">
                <a:latin typeface="Lucida Sans Unicode"/>
                <a:cs typeface="Lucida Sans Unicode"/>
              </a:rPr>
              <a:t>İşleme</a:t>
            </a:r>
            <a:r>
              <a:rPr dirty="0" sz="2750" spc="-275">
                <a:latin typeface="Lucida Sans Unicode"/>
                <a:cs typeface="Lucida Sans Unicode"/>
              </a:rPr>
              <a:t> </a:t>
            </a:r>
            <a:r>
              <a:rPr dirty="0" sz="2750" spc="-10">
                <a:latin typeface="Lucida Sans Unicode"/>
                <a:cs typeface="Lucida Sans Unicode"/>
              </a:rPr>
              <a:t>Sonuçları</a:t>
            </a:r>
            <a:r>
              <a:rPr dirty="0" sz="2750">
                <a:latin typeface="Lucida Sans Unicode"/>
                <a:cs typeface="Lucida Sans Unicode"/>
              </a:rPr>
              <a:t>	</a:t>
            </a:r>
            <a:r>
              <a:rPr dirty="0" sz="2750" spc="-170">
                <a:latin typeface="Lucida Sans Unicode"/>
                <a:cs typeface="Lucida Sans Unicode"/>
              </a:rPr>
              <a:t>Dinamik</a:t>
            </a:r>
            <a:r>
              <a:rPr dirty="0" sz="2750" spc="-75">
                <a:latin typeface="Lucida Sans Unicode"/>
                <a:cs typeface="Lucida Sans Unicode"/>
              </a:rPr>
              <a:t> </a:t>
            </a:r>
            <a:r>
              <a:rPr dirty="0" sz="2750" spc="-135">
                <a:latin typeface="Lucida Sans Unicode"/>
                <a:cs typeface="Lucida Sans Unicode"/>
              </a:rPr>
              <a:t>Analiz</a:t>
            </a:r>
            <a:r>
              <a:rPr dirty="0" sz="2750" spc="-300">
                <a:latin typeface="Lucida Sans Unicode"/>
                <a:cs typeface="Lucida Sans Unicode"/>
              </a:rPr>
              <a:t> </a:t>
            </a:r>
            <a:r>
              <a:rPr dirty="0" sz="2750" spc="-40">
                <a:latin typeface="Lucida Sans Unicode"/>
                <a:cs typeface="Lucida Sans Unicode"/>
              </a:rPr>
              <a:t>Sonuçları</a:t>
            </a:r>
            <a:r>
              <a:rPr dirty="0" sz="2750" spc="25">
                <a:latin typeface="Lucida Sans Unicode"/>
                <a:cs typeface="Lucida Sans Unicode"/>
              </a:rPr>
              <a:t> </a:t>
            </a:r>
            <a:r>
              <a:rPr dirty="0" sz="2750">
                <a:latin typeface="Lucida Sans Unicode"/>
                <a:cs typeface="Lucida Sans Unicode"/>
              </a:rPr>
              <a:t>(Çatı</a:t>
            </a:r>
            <a:r>
              <a:rPr dirty="0" sz="2750" spc="-365">
                <a:latin typeface="Lucida Sans Unicode"/>
                <a:cs typeface="Lucida Sans Unicode"/>
              </a:rPr>
              <a:t> </a:t>
            </a:r>
            <a:r>
              <a:rPr dirty="0" sz="2750" spc="-50">
                <a:latin typeface="Lucida Sans Unicode"/>
                <a:cs typeface="Lucida Sans Unicode"/>
              </a:rPr>
              <a:t>Katı</a:t>
            </a:r>
            <a:r>
              <a:rPr dirty="0" sz="2750" spc="-405">
                <a:latin typeface="Lucida Sans Unicode"/>
                <a:cs typeface="Lucida Sans Unicode"/>
              </a:rPr>
              <a:t> </a:t>
            </a:r>
            <a:r>
              <a:rPr dirty="0" sz="2750" spc="-55">
                <a:latin typeface="Lucida Sans Unicode"/>
                <a:cs typeface="Lucida Sans Unicode"/>
              </a:rPr>
              <a:t>Deplasmanı)</a:t>
            </a:r>
            <a:endParaRPr sz="2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dirty="0" sz="1950" spc="-120">
                <a:latin typeface="Lucida Sans Unicode"/>
                <a:cs typeface="Lucida Sans Unicode"/>
              </a:rPr>
              <a:t>Gürültülü</a:t>
            </a:r>
            <a:r>
              <a:rPr dirty="0" sz="1950" spc="114">
                <a:latin typeface="Lucida Sans Unicode"/>
                <a:cs typeface="Lucida Sans Unicode"/>
              </a:rPr>
              <a:t> </a:t>
            </a:r>
            <a:r>
              <a:rPr dirty="0" sz="1950" spc="-55">
                <a:latin typeface="Lucida Sans Unicode"/>
                <a:cs typeface="Lucida Sans Unicode"/>
              </a:rPr>
              <a:t>ve</a:t>
            </a:r>
            <a:r>
              <a:rPr dirty="0" sz="1950" spc="-125">
                <a:latin typeface="Lucida Sans Unicode"/>
                <a:cs typeface="Lucida Sans Unicode"/>
              </a:rPr>
              <a:t> </a:t>
            </a:r>
            <a:r>
              <a:rPr dirty="0" sz="1950" spc="-160">
                <a:latin typeface="Lucida Sans Unicode"/>
                <a:cs typeface="Lucida Sans Unicode"/>
              </a:rPr>
              <a:t>Temizlenmiş</a:t>
            </a:r>
            <a:r>
              <a:rPr dirty="0" sz="1950" spc="30">
                <a:latin typeface="Lucida Sans Unicode"/>
                <a:cs typeface="Lucida Sans Unicode"/>
              </a:rPr>
              <a:t> </a:t>
            </a:r>
            <a:r>
              <a:rPr dirty="0" sz="1950" spc="-85">
                <a:latin typeface="Lucida Sans Unicode"/>
                <a:cs typeface="Lucida Sans Unicode"/>
              </a:rPr>
              <a:t>Sinyal</a:t>
            </a:r>
            <a:r>
              <a:rPr dirty="0" sz="1950" spc="-90">
                <a:latin typeface="Lucida Sans Unicode"/>
                <a:cs typeface="Lucida Sans Unicode"/>
              </a:rPr>
              <a:t> </a:t>
            </a:r>
            <a:r>
              <a:rPr dirty="0" sz="1950" spc="-20">
                <a:latin typeface="Lucida Sans Unicode"/>
                <a:cs typeface="Lucida Sans Unicode"/>
              </a:rPr>
              <a:t>Karşılaştırması</a:t>
            </a:r>
            <a:endParaRPr sz="1950">
              <a:latin typeface="Lucida Sans Unicode"/>
              <a:cs typeface="Lucida Sans Unicode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4207808" y="7263341"/>
            <a:ext cx="87884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20">
                <a:latin typeface="Lucida Sans Unicode"/>
                <a:cs typeface="Lucida Sans Unicode"/>
              </a:rPr>
              <a:t>Zaman</a:t>
            </a:r>
            <a:r>
              <a:rPr dirty="0" sz="1450" spc="-60">
                <a:latin typeface="Lucida Sans Unicode"/>
                <a:cs typeface="Lucida Sans Unicode"/>
              </a:rPr>
              <a:t> </a:t>
            </a:r>
            <a:r>
              <a:rPr dirty="0" sz="1450" spc="-25">
                <a:solidFill>
                  <a:srgbClr val="181818"/>
                </a:solidFill>
                <a:latin typeface="Lucida Sans Unicode"/>
                <a:cs typeface="Lucida Sans Unicode"/>
              </a:rPr>
              <a:t>(s)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301750" y="3998383"/>
            <a:ext cx="6625590" cy="3086100"/>
          </a:xfrm>
          <a:prstGeom prst="rect">
            <a:avLst/>
          </a:prstGeom>
          <a:ln w="12700">
            <a:solidFill>
              <a:srgbClr val="444444"/>
            </a:solidFill>
          </a:ln>
        </p:spPr>
        <p:txBody>
          <a:bodyPr wrap="square" lIns="0" tIns="29845" rIns="0" bIns="0" rtlCol="0" vert="horz">
            <a:spAutoFit/>
          </a:bodyPr>
          <a:lstStyle/>
          <a:p>
            <a:pPr marL="3979545" marR="104139" indent="-7620">
              <a:lnSpc>
                <a:spcPct val="111100"/>
              </a:lnSpc>
              <a:spcBef>
                <a:spcPts val="235"/>
              </a:spcBef>
            </a:pPr>
            <a:r>
              <a:rPr dirty="0" sz="1350" spc="-70">
                <a:latin typeface="Lucida Sans Unicode"/>
                <a:cs typeface="Lucida Sans Unicode"/>
              </a:rPr>
              <a:t>Gürültülü</a:t>
            </a:r>
            <a:r>
              <a:rPr dirty="0" sz="1350" spc="-40">
                <a:latin typeface="Lucida Sans Unicode"/>
                <a:cs typeface="Lucida Sans Unicode"/>
              </a:rPr>
              <a:t> Sentetik</a:t>
            </a:r>
            <a:r>
              <a:rPr dirty="0" sz="1350" spc="30">
                <a:latin typeface="Lucida Sans Unicode"/>
                <a:cs typeface="Lucida Sans Unicode"/>
              </a:rPr>
              <a:t> </a:t>
            </a:r>
            <a:r>
              <a:rPr dirty="0" sz="1350" spc="-20">
                <a:latin typeface="Lucida Sans Unicode"/>
                <a:cs typeface="Lucida Sans Unicode"/>
              </a:rPr>
              <a:t>Veri </a:t>
            </a:r>
            <a:r>
              <a:rPr dirty="0" sz="1350" spc="-95">
                <a:latin typeface="Lucida Sans Unicode"/>
                <a:cs typeface="Lucida Sans Unicode"/>
              </a:rPr>
              <a:t>Trigonometrık</a:t>
            </a:r>
            <a:r>
              <a:rPr dirty="0" sz="1350" spc="75">
                <a:latin typeface="Lucida Sans Unicode"/>
                <a:cs typeface="Lucida Sans Unicode"/>
              </a:rPr>
              <a:t> </a:t>
            </a:r>
            <a:r>
              <a:rPr dirty="0" sz="1350" spc="-65">
                <a:latin typeface="Lucida Sans Unicode"/>
                <a:cs typeface="Lucida Sans Unicode"/>
              </a:rPr>
              <a:t>Regresyon</a:t>
            </a:r>
            <a:r>
              <a:rPr dirty="0" sz="1350" spc="-30">
                <a:latin typeface="Lucida Sans Unicode"/>
                <a:cs typeface="Lucida Sans Unicode"/>
              </a:rPr>
              <a:t> </a:t>
            </a:r>
            <a:r>
              <a:rPr dirty="0" sz="1350" spc="-10">
                <a:solidFill>
                  <a:srgbClr val="0C0C0C"/>
                </a:solidFill>
                <a:latin typeface="Lucida Sans Unicode"/>
                <a:cs typeface="Lucida Sans Unicode"/>
              </a:rPr>
              <a:t>Sonucu</a:t>
            </a:r>
            <a:endParaRPr sz="1350">
              <a:latin typeface="Lucida Sans Unicode"/>
              <a:cs typeface="Lucida Sans Unicode"/>
            </a:endParaRPr>
          </a:p>
          <a:p>
            <a:pPr marL="1725930">
              <a:lnSpc>
                <a:spcPct val="100000"/>
              </a:lnSpc>
              <a:spcBef>
                <a:spcPts val="1180"/>
              </a:spcBef>
            </a:pPr>
            <a:r>
              <a:rPr dirty="0" sz="2850" spc="75">
                <a:solidFill>
                  <a:srgbClr val="1F1F1F"/>
                </a:solidFill>
                <a:latin typeface="Times New Roman"/>
                <a:cs typeface="Times New Roman"/>
              </a:rPr>
              <a:t>Jt</a:t>
            </a:r>
            <a:r>
              <a:rPr dirty="0" baseline="33033" sz="2775" spc="112">
                <a:solidFill>
                  <a:srgbClr val="1F1F1F"/>
                </a:solidFill>
                <a:latin typeface="Times New Roman"/>
                <a:cs typeface="Times New Roman"/>
              </a:rPr>
              <a:t>2</a:t>
            </a:r>
            <a:r>
              <a:rPr dirty="0" baseline="33033" sz="2775" spc="427">
                <a:solidFill>
                  <a:srgbClr val="1F1F1F"/>
                </a:solidFill>
                <a:latin typeface="Times New Roman"/>
                <a:cs typeface="Times New Roman"/>
              </a:rPr>
              <a:t> </a:t>
            </a:r>
            <a:r>
              <a:rPr dirty="0" sz="2850">
                <a:solidFill>
                  <a:srgbClr val="232323"/>
                </a:solidFill>
                <a:latin typeface="Times New Roman"/>
                <a:cs typeface="Times New Roman"/>
              </a:rPr>
              <a:t>=</a:t>
            </a:r>
            <a:r>
              <a:rPr dirty="0" sz="2850" spc="-5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2850" spc="125">
                <a:solidFill>
                  <a:srgbClr val="242424"/>
                </a:solidFill>
                <a:latin typeface="Times New Roman"/>
                <a:cs typeface="Times New Roman"/>
              </a:rPr>
              <a:t>0.98</a:t>
            </a:r>
            <a:endParaRPr sz="2850">
              <a:latin typeface="Times New Roman"/>
              <a:cs typeface="Times New Roman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550146" y="7024864"/>
            <a:ext cx="624967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29360" algn="l"/>
                <a:tab pos="3656329" algn="l"/>
                <a:tab pos="4851400" algn="l"/>
                <a:tab pos="6007735" algn="l"/>
              </a:tabLst>
            </a:pPr>
            <a:r>
              <a:rPr dirty="0" sz="1700" spc="10">
                <a:latin typeface="Courier New"/>
                <a:cs typeface="Courier New"/>
              </a:rPr>
              <a:t>0</a:t>
            </a:r>
            <a:r>
              <a:rPr dirty="0" sz="1700">
                <a:latin typeface="Courier New"/>
                <a:cs typeface="Courier New"/>
              </a:rPr>
              <a:t>	</a:t>
            </a:r>
            <a:r>
              <a:rPr dirty="0" baseline="3703" sz="2250" spc="22">
                <a:latin typeface="Consolas"/>
                <a:cs typeface="Consolas"/>
              </a:rPr>
              <a:t>2</a:t>
            </a:r>
            <a:r>
              <a:rPr dirty="0" baseline="3703" sz="2250">
                <a:latin typeface="Consolas"/>
                <a:cs typeface="Consolas"/>
              </a:rPr>
              <a:t>	</a:t>
            </a:r>
            <a:r>
              <a:rPr dirty="0" sz="1500" spc="-50">
                <a:latin typeface="Lucida Sans Unicode"/>
                <a:cs typeface="Lucida Sans Unicode"/>
              </a:rPr>
              <a:t>6</a:t>
            </a:r>
            <a:r>
              <a:rPr dirty="0" sz="1500">
                <a:latin typeface="Lucida Sans Unicode"/>
                <a:cs typeface="Lucida Sans Unicode"/>
              </a:rPr>
              <a:t>	</a:t>
            </a:r>
            <a:r>
              <a:rPr dirty="0" sz="1500" spc="-50">
                <a:solidFill>
                  <a:srgbClr val="181818"/>
                </a:solidFill>
                <a:latin typeface="Consolas"/>
                <a:cs typeface="Consolas"/>
              </a:rPr>
              <a:t>8</a:t>
            </a:r>
            <a:r>
              <a:rPr dirty="0" sz="1500">
                <a:solidFill>
                  <a:srgbClr val="181818"/>
                </a:solidFill>
                <a:latin typeface="Consolas"/>
                <a:cs typeface="Consolas"/>
              </a:rPr>
              <a:t>	</a:t>
            </a:r>
            <a:r>
              <a:rPr dirty="0" baseline="1683" sz="2475" spc="-89">
                <a:latin typeface="Courier New"/>
                <a:cs typeface="Courier New"/>
              </a:rPr>
              <a:t>10</a:t>
            </a:r>
            <a:endParaRPr baseline="1683" sz="2475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50785" y="7677150"/>
            <a:ext cx="7315834" cy="1456055"/>
          </a:xfrm>
          <a:prstGeom prst="rect">
            <a:avLst/>
          </a:prstGeom>
        </p:spPr>
        <p:txBody>
          <a:bodyPr wrap="square" lIns="0" tIns="46355" rIns="0" bIns="0" rtlCol="0" vert="horz">
            <a:spAutoFit/>
          </a:bodyPr>
          <a:lstStyle/>
          <a:p>
            <a:pPr marL="18415" marR="5080" indent="-6350">
              <a:lnSpc>
                <a:spcPct val="91200"/>
              </a:lnSpc>
              <a:spcBef>
                <a:spcPts val="365"/>
              </a:spcBef>
            </a:pPr>
            <a:r>
              <a:rPr dirty="0" sz="2500" spc="-55">
                <a:latin typeface="Times New Roman"/>
                <a:cs typeface="Times New Roman"/>
              </a:rPr>
              <a:t>Trigonometrik</a:t>
            </a:r>
            <a:r>
              <a:rPr dirty="0" sz="2500" spc="-105">
                <a:latin typeface="Times New Roman"/>
                <a:cs typeface="Times New Roman"/>
              </a:rPr>
              <a:t> </a:t>
            </a:r>
            <a:r>
              <a:rPr dirty="0" sz="2500" spc="-50">
                <a:latin typeface="Times New Roman"/>
                <a:cs typeface="Times New Roman"/>
              </a:rPr>
              <a:t>regresyon,</a:t>
            </a:r>
            <a:r>
              <a:rPr dirty="0" sz="2500" spc="-105">
                <a:latin typeface="Times New Roman"/>
                <a:cs typeface="Times New Roman"/>
              </a:rPr>
              <a:t> </a:t>
            </a:r>
            <a:r>
              <a:rPr dirty="0" sz="2500" spc="-204">
                <a:latin typeface="Times New Roman"/>
                <a:cs typeface="Times New Roman"/>
              </a:rPr>
              <a:t>%25</a:t>
            </a:r>
            <a:r>
              <a:rPr dirty="0" sz="2500" spc="-155">
                <a:latin typeface="Times New Roman"/>
                <a:cs typeface="Times New Roman"/>
              </a:rPr>
              <a:t> </a:t>
            </a:r>
            <a:r>
              <a:rPr dirty="0" sz="2500" spc="-25">
                <a:latin typeface="Times New Roman"/>
                <a:cs typeface="Times New Roman"/>
              </a:rPr>
              <a:t>oranında</a:t>
            </a:r>
            <a:r>
              <a:rPr dirty="0" sz="2500" spc="-20">
                <a:latin typeface="Times New Roman"/>
                <a:cs typeface="Times New Roman"/>
              </a:rPr>
              <a:t> </a:t>
            </a:r>
            <a:r>
              <a:rPr dirty="0" sz="2500" spc="-35">
                <a:latin typeface="Times New Roman"/>
                <a:cs typeface="Times New Roman"/>
              </a:rPr>
              <a:t>gürültü</a:t>
            </a:r>
            <a:r>
              <a:rPr dirty="0" sz="2500" spc="-95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eklenmiş </a:t>
            </a:r>
            <a:r>
              <a:rPr dirty="0" sz="2600" spc="-80">
                <a:latin typeface="Times New Roman"/>
                <a:cs typeface="Times New Roman"/>
              </a:rPr>
              <a:t>sentetik</a:t>
            </a:r>
            <a:r>
              <a:rPr dirty="0" sz="2600" spc="-85">
                <a:latin typeface="Times New Roman"/>
                <a:cs typeface="Times New Roman"/>
              </a:rPr>
              <a:t> </a:t>
            </a:r>
            <a:r>
              <a:rPr dirty="0" sz="2600" spc="-90">
                <a:latin typeface="Times New Roman"/>
                <a:cs typeface="Times New Roman"/>
              </a:rPr>
              <a:t>sinyali</a:t>
            </a:r>
            <a:r>
              <a:rPr dirty="0" sz="2600" spc="-70">
                <a:latin typeface="Times New Roman"/>
                <a:cs typeface="Times New Roman"/>
              </a:rPr>
              <a:t> </a:t>
            </a:r>
            <a:r>
              <a:rPr dirty="0" sz="2600" spc="-105">
                <a:latin typeface="Times New Roman"/>
                <a:cs typeface="Times New Roman"/>
              </a:rPr>
              <a:t>başarıyla</a:t>
            </a:r>
            <a:r>
              <a:rPr dirty="0" sz="2600" spc="65">
                <a:latin typeface="Times New Roman"/>
                <a:cs typeface="Times New Roman"/>
              </a:rPr>
              <a:t> </a:t>
            </a:r>
            <a:r>
              <a:rPr dirty="0" sz="2600" spc="-95">
                <a:latin typeface="Times New Roman"/>
                <a:cs typeface="Times New Roman"/>
              </a:rPr>
              <a:t>filtrelemiş</a:t>
            </a:r>
            <a:r>
              <a:rPr dirty="0" sz="2600" spc="15">
                <a:latin typeface="Times New Roman"/>
                <a:cs typeface="Times New Roman"/>
              </a:rPr>
              <a:t> </a:t>
            </a:r>
            <a:r>
              <a:rPr dirty="0" sz="2600" spc="-220">
                <a:latin typeface="Times New Roman"/>
                <a:cs typeface="Times New Roman"/>
              </a:rPr>
              <a:t>ve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 spc="-100">
                <a:latin typeface="Times New Roman"/>
                <a:cs typeface="Times New Roman"/>
              </a:rPr>
              <a:t>R^2</a:t>
            </a:r>
            <a:r>
              <a:rPr dirty="0" sz="2600" spc="-65">
                <a:latin typeface="Times New Roman"/>
                <a:cs typeface="Times New Roman"/>
              </a:rPr>
              <a:t> </a:t>
            </a:r>
            <a:r>
              <a:rPr dirty="0" sz="2600" spc="-1140">
                <a:latin typeface="Times New Roman"/>
                <a:cs typeface="Times New Roman"/>
              </a:rPr>
              <a:t>—</a:t>
            </a:r>
            <a:r>
              <a:rPr dirty="0" sz="2600" spc="-110">
                <a:latin typeface="Times New Roman"/>
                <a:cs typeface="Times New Roman"/>
              </a:rPr>
              <a:t>0.98</a:t>
            </a:r>
            <a:r>
              <a:rPr dirty="0" sz="2600" spc="-90">
                <a:latin typeface="Times New Roman"/>
                <a:cs typeface="Times New Roman"/>
              </a:rPr>
              <a:t> </a:t>
            </a:r>
            <a:r>
              <a:rPr dirty="0" sz="2600" spc="-155">
                <a:latin typeface="Times New Roman"/>
                <a:cs typeface="Times New Roman"/>
              </a:rPr>
              <a:t>gibi</a:t>
            </a:r>
            <a:r>
              <a:rPr dirty="0" sz="2600" spc="-5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çok </a:t>
            </a:r>
            <a:r>
              <a:rPr dirty="0" sz="2400" spc="-10">
                <a:latin typeface="Times New Roman"/>
                <a:cs typeface="Times New Roman"/>
              </a:rPr>
              <a:t>yüksek</a:t>
            </a:r>
            <a:r>
              <a:rPr dirty="0" sz="2400" spc="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bir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uyum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skoru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elde</a:t>
            </a:r>
            <a:r>
              <a:rPr dirty="0" sz="2400" spc="-13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etmiştir.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105">
                <a:latin typeface="Times New Roman"/>
                <a:cs typeface="Times New Roman"/>
              </a:rPr>
              <a:t>Bu,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65">
                <a:latin typeface="Times New Roman"/>
                <a:cs typeface="Times New Roman"/>
              </a:rPr>
              <a:t>dinamit</a:t>
            </a:r>
            <a:r>
              <a:rPr dirty="0" sz="2400" spc="-4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analiz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 spc="-20">
                <a:latin typeface="Times New Roman"/>
                <a:cs typeface="Times New Roman"/>
              </a:rPr>
              <a:t>için </a:t>
            </a:r>
            <a:r>
              <a:rPr dirty="0" sz="2550" spc="-80">
                <a:latin typeface="Times New Roman"/>
                <a:cs typeface="Times New Roman"/>
              </a:rPr>
              <a:t>güvenilir</a:t>
            </a:r>
            <a:r>
              <a:rPr dirty="0" sz="2550" spc="-25">
                <a:latin typeface="Times New Roman"/>
                <a:cs typeface="Times New Roman"/>
              </a:rPr>
              <a:t> </a:t>
            </a:r>
            <a:r>
              <a:rPr dirty="0" sz="2550" spc="-80">
                <a:latin typeface="Times New Roman"/>
                <a:cs typeface="Times New Roman"/>
              </a:rPr>
              <a:t>bir</a:t>
            </a:r>
            <a:r>
              <a:rPr dirty="0" sz="2550" spc="-155">
                <a:latin typeface="Times New Roman"/>
                <a:cs typeface="Times New Roman"/>
              </a:rPr>
              <a:t> </a:t>
            </a:r>
            <a:r>
              <a:rPr dirty="0" sz="2550" spc="-75">
                <a:latin typeface="Times New Roman"/>
                <a:cs typeface="Times New Roman"/>
              </a:rPr>
              <a:t>girdi</a:t>
            </a:r>
            <a:r>
              <a:rPr dirty="0" sz="2550" spc="-85">
                <a:latin typeface="Times New Roman"/>
                <a:cs typeface="Times New Roman"/>
              </a:rPr>
              <a:t> sağlandığını</a:t>
            </a:r>
            <a:r>
              <a:rPr dirty="0" sz="2550" spc="-15">
                <a:latin typeface="Times New Roman"/>
                <a:cs typeface="Times New Roman"/>
              </a:rPr>
              <a:t> </a:t>
            </a:r>
            <a:r>
              <a:rPr dirty="0" sz="2550" spc="-10">
                <a:latin typeface="Times New Roman"/>
                <a:cs typeface="Times New Roman"/>
              </a:rPr>
              <a:t>gösterir.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616259" y="3786363"/>
            <a:ext cx="16446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700" spc="10">
                <a:latin typeface="Courier New"/>
                <a:cs typeface="Courier New"/>
              </a:rPr>
              <a:t>4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325416" y="4855280"/>
            <a:ext cx="43497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12420" algn="l"/>
              </a:tabLst>
            </a:pPr>
            <a:r>
              <a:rPr dirty="0" sz="1300" spc="-50">
                <a:solidFill>
                  <a:srgbClr val="383838"/>
                </a:solidFill>
                <a:latin typeface="Lucida Sans Unicode"/>
                <a:cs typeface="Lucida Sans Unicode"/>
              </a:rPr>
              <a:t>o</a:t>
            </a:r>
            <a:r>
              <a:rPr dirty="0" sz="1300">
                <a:solidFill>
                  <a:srgbClr val="383838"/>
                </a:solidFill>
                <a:latin typeface="Lucida Sans Unicode"/>
                <a:cs typeface="Lucida Sans Unicode"/>
              </a:rPr>
              <a:t>	</a:t>
            </a:r>
            <a:r>
              <a:rPr dirty="0" sz="1300" spc="-50">
                <a:latin typeface="Lucida Sans Unicode"/>
                <a:cs typeface="Lucida Sans Unicode"/>
              </a:rPr>
              <a:t>2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9630205" y="5827183"/>
            <a:ext cx="129539" cy="279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50" spc="-50">
                <a:solidFill>
                  <a:srgbClr val="161616"/>
                </a:solidFill>
                <a:latin typeface="Consolas"/>
                <a:cs typeface="Consolas"/>
              </a:rPr>
              <a:t>0</a:t>
            </a:r>
            <a:endParaRPr sz="1650">
              <a:latin typeface="Consolas"/>
              <a:cs typeface="Consola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9487288" y="6848122"/>
            <a:ext cx="21526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95">
                <a:latin typeface="Consolas"/>
                <a:cs typeface="Consolas"/>
              </a:rPr>
              <a:t>-</a:t>
            </a:r>
            <a:r>
              <a:rPr dirty="0" sz="1500" spc="-50">
                <a:latin typeface="Consolas"/>
                <a:cs typeface="Consolas"/>
              </a:rPr>
              <a:t>Z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0768678" y="3591277"/>
            <a:ext cx="478663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215">
                <a:latin typeface="Lucida Sans Unicode"/>
                <a:cs typeface="Lucida Sans Unicode"/>
              </a:rPr>
              <a:t>Dinamit</a:t>
            </a:r>
            <a:r>
              <a:rPr dirty="0" sz="2200" spc="150">
                <a:latin typeface="Lucida Sans Unicode"/>
                <a:cs typeface="Lucida Sans Unicode"/>
              </a:rPr>
              <a:t> </a:t>
            </a:r>
            <a:r>
              <a:rPr dirty="0" sz="2200" spc="-350">
                <a:latin typeface="Lucida Sans Unicode"/>
                <a:cs typeface="Lucida Sans Unicode"/>
              </a:rPr>
              <a:t>Tepki</a:t>
            </a:r>
            <a:r>
              <a:rPr dirty="0" sz="2200" spc="-120">
                <a:latin typeface="Lucida Sans Unicode"/>
                <a:cs typeface="Lucida Sans Unicode"/>
              </a:rPr>
              <a:t> </a:t>
            </a:r>
            <a:r>
              <a:rPr dirty="0" sz="2200" spc="-220">
                <a:latin typeface="Lucida Sans Unicode"/>
                <a:cs typeface="Lucida Sans Unicode"/>
              </a:rPr>
              <a:t>Karşılaştırması</a:t>
            </a:r>
            <a:r>
              <a:rPr dirty="0" sz="2200" spc="-170">
                <a:latin typeface="Lucida Sans Unicode"/>
                <a:cs typeface="Lucida Sans Unicode"/>
              </a:rPr>
              <a:t> </a:t>
            </a:r>
            <a:r>
              <a:rPr dirty="0" sz="2200" spc="-220">
                <a:latin typeface="Lucida Sans Unicode"/>
                <a:cs typeface="Lucida Sans Unicode"/>
              </a:rPr>
              <a:t>(Euler</a:t>
            </a:r>
            <a:r>
              <a:rPr dirty="0" sz="2200" spc="15">
                <a:latin typeface="Lucida Sans Unicode"/>
                <a:cs typeface="Lucida Sans Unicode"/>
              </a:rPr>
              <a:t> </a:t>
            </a:r>
            <a:r>
              <a:rPr dirty="0" sz="2200" spc="-190">
                <a:latin typeface="Lucida Sans Unicode"/>
                <a:cs typeface="Lucida Sans Unicode"/>
              </a:rPr>
              <a:t>vs </a:t>
            </a:r>
            <a:r>
              <a:rPr dirty="0" sz="2200" spc="-295">
                <a:latin typeface="Lucida Sans Unicode"/>
                <a:cs typeface="Lucida Sans Unicode"/>
              </a:rPr>
              <a:t>RK4)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1276389" y="7065080"/>
            <a:ext cx="135826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236980" algn="l"/>
              </a:tabLst>
            </a:pPr>
            <a:r>
              <a:rPr dirty="0" sz="1300" spc="-50">
                <a:latin typeface="Lucida Sans Unicode"/>
                <a:cs typeface="Lucida Sans Unicode"/>
              </a:rPr>
              <a:t>2</a:t>
            </a:r>
            <a:r>
              <a:rPr dirty="0" sz="1300">
                <a:latin typeface="Lucida Sans Unicode"/>
                <a:cs typeface="Lucida Sans Unicode"/>
              </a:rPr>
              <a:t>	</a:t>
            </a:r>
            <a:r>
              <a:rPr dirty="0" sz="1300" spc="-50">
                <a:latin typeface="Lucida Sans Unicode"/>
                <a:cs typeface="Lucida Sans Unicode"/>
              </a:rPr>
              <a:t>4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2742202" y="7263341"/>
            <a:ext cx="86614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45">
                <a:latin typeface="Lucida Sans Unicode"/>
                <a:cs typeface="Lucida Sans Unicode"/>
              </a:rPr>
              <a:t>Zaman</a:t>
            </a:r>
            <a:r>
              <a:rPr dirty="0" sz="1450" spc="-35">
                <a:latin typeface="Lucida Sans Unicode"/>
                <a:cs typeface="Lucida Sans Unicode"/>
              </a:rPr>
              <a:t> </a:t>
            </a:r>
            <a:r>
              <a:rPr dirty="0" sz="1450" spc="-25">
                <a:solidFill>
                  <a:srgbClr val="111111"/>
                </a:solidFill>
                <a:latin typeface="Lucida Sans Unicode"/>
                <a:cs typeface="Lucida Sans Unicode"/>
              </a:rPr>
              <a:t>(s)</a:t>
            </a:r>
            <a:endParaRPr sz="1450">
              <a:latin typeface="Lucida Sans Unicode"/>
              <a:cs typeface="Lucida Sans Unicode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9781116" y="3998383"/>
            <a:ext cx="6718300" cy="3086100"/>
          </a:xfrm>
          <a:prstGeom prst="rect">
            <a:avLst/>
          </a:prstGeom>
          <a:ln w="12700">
            <a:solidFill>
              <a:srgbClr val="443F3F"/>
            </a:solidFill>
          </a:ln>
        </p:spPr>
        <p:txBody>
          <a:bodyPr wrap="square" lIns="0" tIns="46355" rIns="0" bIns="0" rtlCol="0" vert="horz">
            <a:spAutoFit/>
          </a:bodyPr>
          <a:lstStyle/>
          <a:p>
            <a:pPr marL="5542280" marR="107950">
              <a:lnSpc>
                <a:spcPts val="1750"/>
              </a:lnSpc>
              <a:spcBef>
                <a:spcPts val="365"/>
              </a:spcBef>
            </a:pPr>
            <a:r>
              <a:rPr dirty="0" sz="1500" spc="-150">
                <a:latin typeface="Lucida Sans Unicode"/>
                <a:cs typeface="Lucida Sans Unicode"/>
              </a:rPr>
              <a:t>RK4</a:t>
            </a:r>
            <a:r>
              <a:rPr dirty="0" sz="1500">
                <a:latin typeface="Lucida Sans Unicode"/>
                <a:cs typeface="Lucida Sans Unicode"/>
              </a:rPr>
              <a:t> </a:t>
            </a:r>
            <a:r>
              <a:rPr dirty="0" sz="1500" spc="-95">
                <a:latin typeface="Lucida Sans Unicode"/>
                <a:cs typeface="Lucida Sans Unicode"/>
              </a:rPr>
              <a:t>Yöntemi </a:t>
            </a:r>
            <a:r>
              <a:rPr dirty="0" sz="1500" spc="-100">
                <a:latin typeface="Lucida Sans Unicode"/>
                <a:cs typeface="Lucida Sans Unicode"/>
              </a:rPr>
              <a:t>Euler</a:t>
            </a:r>
            <a:r>
              <a:rPr dirty="0" sz="1500" spc="-10">
                <a:latin typeface="Lucida Sans Unicode"/>
                <a:cs typeface="Lucida Sans Unicode"/>
              </a:rPr>
              <a:t> </a:t>
            </a:r>
            <a:r>
              <a:rPr dirty="0" sz="1500" spc="-195">
                <a:solidFill>
                  <a:srgbClr val="0C0C0C"/>
                </a:solidFill>
                <a:latin typeface="Lucida Sans Unicode"/>
                <a:cs typeface="Lucida Sans Unicode"/>
              </a:rPr>
              <a:t>Yöntemi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0046446" y="7024864"/>
            <a:ext cx="631317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665220" algn="l"/>
                <a:tab pos="6071235" algn="l"/>
              </a:tabLst>
            </a:pPr>
            <a:r>
              <a:rPr dirty="0" sz="1700" spc="10">
                <a:solidFill>
                  <a:srgbClr val="151515"/>
                </a:solidFill>
                <a:latin typeface="Courier New"/>
                <a:cs typeface="Courier New"/>
              </a:rPr>
              <a:t>0</a:t>
            </a:r>
            <a:r>
              <a:rPr dirty="0" sz="1700">
                <a:solidFill>
                  <a:srgbClr val="151515"/>
                </a:solidFill>
                <a:latin typeface="Courier New"/>
                <a:cs typeface="Courier New"/>
              </a:rPr>
              <a:t>	</a:t>
            </a:r>
            <a:r>
              <a:rPr dirty="0" sz="1700" spc="-50">
                <a:latin typeface="Courier New"/>
                <a:cs typeface="Courier New"/>
              </a:rPr>
              <a:t>6</a:t>
            </a:r>
            <a:r>
              <a:rPr dirty="0" sz="1700">
                <a:latin typeface="Courier New"/>
                <a:cs typeface="Courier New"/>
              </a:rPr>
              <a:t>	</a:t>
            </a:r>
            <a:r>
              <a:rPr dirty="0" baseline="1683" sz="2475" spc="-89">
                <a:latin typeface="Courier New"/>
                <a:cs typeface="Courier New"/>
              </a:rPr>
              <a:t>10</a:t>
            </a:r>
            <a:endParaRPr baseline="1683" sz="2475">
              <a:latin typeface="Courier New"/>
              <a:cs typeface="Courier New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9262526" y="7703608"/>
            <a:ext cx="7480934" cy="7258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6379" indent="-233679">
              <a:lnSpc>
                <a:spcPts val="2730"/>
              </a:lnSpc>
              <a:spcBef>
                <a:spcPts val="90"/>
              </a:spcBef>
              <a:buChar char="•"/>
              <a:tabLst>
                <a:tab pos="246379" algn="l"/>
              </a:tabLst>
            </a:pPr>
            <a:r>
              <a:rPr dirty="0" sz="2300">
                <a:latin typeface="Cambria"/>
                <a:cs typeface="Cambria"/>
              </a:rPr>
              <a:t>RK4</a:t>
            </a:r>
            <a:r>
              <a:rPr dirty="0" sz="2300" spc="-150">
                <a:latin typeface="Cambria"/>
                <a:cs typeface="Cambria"/>
              </a:rPr>
              <a:t> </a:t>
            </a:r>
            <a:r>
              <a:rPr dirty="0" sz="2300" spc="-10">
                <a:latin typeface="Cambria"/>
                <a:cs typeface="Cambria"/>
              </a:rPr>
              <a:t>Yöntemi:</a:t>
            </a:r>
            <a:r>
              <a:rPr dirty="0" sz="2300" spc="-120">
                <a:latin typeface="Cambria"/>
                <a:cs typeface="Cambria"/>
              </a:rPr>
              <a:t> </a:t>
            </a:r>
            <a:r>
              <a:rPr dirty="0" sz="2300" spc="-25">
                <a:latin typeface="Cambria"/>
                <a:cs typeface="Cambria"/>
              </a:rPr>
              <a:t>Sistemin</a:t>
            </a:r>
            <a:r>
              <a:rPr dirty="0" sz="2300" spc="-75">
                <a:latin typeface="Cambria"/>
                <a:cs typeface="Cambria"/>
              </a:rPr>
              <a:t> </a:t>
            </a:r>
            <a:r>
              <a:rPr dirty="0" sz="2300" spc="-20">
                <a:latin typeface="Cambria"/>
                <a:cs typeface="Cambria"/>
              </a:rPr>
              <a:t>fiziksel</a:t>
            </a:r>
            <a:r>
              <a:rPr dirty="0" sz="2300" spc="-45">
                <a:latin typeface="Cambria"/>
                <a:cs typeface="Cambria"/>
              </a:rPr>
              <a:t> </a:t>
            </a:r>
            <a:r>
              <a:rPr dirty="0" sz="2300" spc="-30">
                <a:latin typeface="Cambria"/>
                <a:cs typeface="Cambria"/>
              </a:rPr>
              <a:t>gerçeklige</a:t>
            </a:r>
            <a:r>
              <a:rPr dirty="0" sz="2300" spc="10">
                <a:latin typeface="Cambria"/>
                <a:cs typeface="Cambria"/>
              </a:rPr>
              <a:t> </a:t>
            </a:r>
            <a:r>
              <a:rPr dirty="0" sz="2300">
                <a:latin typeface="Cambria"/>
                <a:cs typeface="Cambria"/>
              </a:rPr>
              <a:t>uygun,</a:t>
            </a:r>
            <a:r>
              <a:rPr dirty="0" sz="2300" spc="15">
                <a:latin typeface="Cambria"/>
                <a:cs typeface="Cambria"/>
              </a:rPr>
              <a:t> </a:t>
            </a:r>
            <a:r>
              <a:rPr dirty="0" sz="2300">
                <a:solidFill>
                  <a:srgbClr val="2D4464"/>
                </a:solidFill>
                <a:latin typeface="Cambria"/>
                <a:cs typeface="Cambria"/>
              </a:rPr>
              <a:t>kararlı</a:t>
            </a:r>
            <a:r>
              <a:rPr dirty="0" sz="2300" spc="-20">
                <a:solidFill>
                  <a:srgbClr val="2D4464"/>
                </a:solidFill>
                <a:latin typeface="Cambria"/>
                <a:cs typeface="Cambria"/>
              </a:rPr>
              <a:t> </a:t>
            </a:r>
            <a:r>
              <a:rPr dirty="0" sz="2300" spc="-25">
                <a:solidFill>
                  <a:srgbClr val="2A4660"/>
                </a:solidFill>
                <a:latin typeface="Cambria"/>
                <a:cs typeface="Cambria"/>
              </a:rPr>
              <a:t>ve</a:t>
            </a:r>
            <a:endParaRPr sz="2300">
              <a:latin typeface="Cambria"/>
              <a:cs typeface="Cambria"/>
            </a:endParaRPr>
          </a:p>
          <a:p>
            <a:pPr marL="265430">
              <a:lnSpc>
                <a:spcPts val="2790"/>
              </a:lnSpc>
            </a:pPr>
            <a:r>
              <a:rPr dirty="0" sz="2350" spc="-30">
                <a:solidFill>
                  <a:srgbClr val="2D4D75"/>
                </a:solidFill>
                <a:latin typeface="Cambria"/>
                <a:cs typeface="Cambria"/>
              </a:rPr>
              <a:t>harmonik</a:t>
            </a:r>
            <a:r>
              <a:rPr dirty="0" sz="2350" spc="-25">
                <a:solidFill>
                  <a:srgbClr val="2D4D75"/>
                </a:solidFill>
                <a:latin typeface="Cambria"/>
                <a:cs typeface="Cambria"/>
              </a:rPr>
              <a:t> </a:t>
            </a:r>
            <a:r>
              <a:rPr dirty="0" sz="2350">
                <a:solidFill>
                  <a:srgbClr val="1F3F66"/>
                </a:solidFill>
                <a:latin typeface="Cambria"/>
                <a:cs typeface="Cambria"/>
              </a:rPr>
              <a:t>salınımını</a:t>
            </a:r>
            <a:r>
              <a:rPr dirty="0" sz="2350" spc="5">
                <a:solidFill>
                  <a:srgbClr val="1F3F66"/>
                </a:solidFill>
                <a:latin typeface="Cambria"/>
                <a:cs typeface="Cambria"/>
              </a:rPr>
              <a:t> </a:t>
            </a:r>
            <a:r>
              <a:rPr dirty="0" sz="2350" spc="-55">
                <a:latin typeface="Cambria"/>
                <a:cs typeface="Cambria"/>
              </a:rPr>
              <a:t>başarıyla</a:t>
            </a:r>
            <a:r>
              <a:rPr dirty="0" sz="2350" spc="-40">
                <a:latin typeface="Cambria"/>
                <a:cs typeface="Cambria"/>
              </a:rPr>
              <a:t> </a:t>
            </a:r>
            <a:r>
              <a:rPr dirty="0" sz="2350" spc="-10">
                <a:latin typeface="Cambria"/>
                <a:cs typeface="Cambria"/>
              </a:rPr>
              <a:t>modellemiştir.</a:t>
            </a:r>
            <a:endParaRPr sz="2350">
              <a:latin typeface="Cambria"/>
              <a:cs typeface="Cambri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9262526" y="8402108"/>
            <a:ext cx="7646670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59079" indent="-246379">
              <a:lnSpc>
                <a:spcPct val="100000"/>
              </a:lnSpc>
              <a:spcBef>
                <a:spcPts val="90"/>
              </a:spcBef>
              <a:buChar char="•"/>
              <a:tabLst>
                <a:tab pos="259079" algn="l"/>
                <a:tab pos="4099560" algn="l"/>
              </a:tabLst>
            </a:pPr>
            <a:r>
              <a:rPr dirty="0" sz="2300" spc="-10">
                <a:latin typeface="Cambria"/>
                <a:cs typeface="Cambria"/>
              </a:rPr>
              <a:t>Euler</a:t>
            </a:r>
            <a:r>
              <a:rPr dirty="0" sz="2300" spc="-120">
                <a:latin typeface="Cambria"/>
                <a:cs typeface="Cambria"/>
              </a:rPr>
              <a:t> </a:t>
            </a:r>
            <a:r>
              <a:rPr dirty="0" sz="2300" spc="-10">
                <a:latin typeface="Cambria"/>
                <a:cs typeface="Cambria"/>
              </a:rPr>
              <a:t>Yöntemi:</a:t>
            </a:r>
            <a:r>
              <a:rPr dirty="0" sz="2300" spc="-60">
                <a:latin typeface="Cambria"/>
                <a:cs typeface="Cambria"/>
              </a:rPr>
              <a:t> </a:t>
            </a:r>
            <a:r>
              <a:rPr dirty="0" sz="2300" spc="-10">
                <a:latin typeface="Cambria"/>
                <a:cs typeface="Cambria"/>
              </a:rPr>
              <a:t>Simülasyonun</a:t>
            </a:r>
            <a:r>
              <a:rPr dirty="0" sz="2300">
                <a:latin typeface="Cambria"/>
                <a:cs typeface="Cambria"/>
              </a:rPr>
              <a:t>	4.</a:t>
            </a:r>
            <a:r>
              <a:rPr dirty="0" sz="2300" spc="20">
                <a:latin typeface="Cambria"/>
                <a:cs typeface="Cambria"/>
              </a:rPr>
              <a:t> </a:t>
            </a:r>
            <a:r>
              <a:rPr dirty="0" sz="2300" spc="-45">
                <a:latin typeface="Cambria"/>
                <a:cs typeface="Cambria"/>
              </a:rPr>
              <a:t>saniyesinden</a:t>
            </a:r>
            <a:r>
              <a:rPr dirty="0" sz="2300" spc="175">
                <a:latin typeface="Cambria"/>
                <a:cs typeface="Cambria"/>
              </a:rPr>
              <a:t> </a:t>
            </a:r>
            <a:r>
              <a:rPr dirty="0" sz="2300" spc="-60">
                <a:latin typeface="Cambria"/>
                <a:cs typeface="Cambria"/>
              </a:rPr>
              <a:t>sonra</a:t>
            </a:r>
            <a:r>
              <a:rPr dirty="0" sz="2300" spc="-30">
                <a:latin typeface="Cambria"/>
                <a:cs typeface="Cambria"/>
              </a:rPr>
              <a:t> </a:t>
            </a:r>
            <a:r>
              <a:rPr dirty="0" sz="2300" spc="-10">
                <a:solidFill>
                  <a:srgbClr val="823B34"/>
                </a:solidFill>
                <a:latin typeface="Cambria"/>
                <a:cs typeface="Cambria"/>
              </a:rPr>
              <a:t>sayısal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9516046" y="8751358"/>
            <a:ext cx="7621905" cy="7277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2705"/>
              </a:lnSpc>
              <a:spcBef>
                <a:spcPts val="90"/>
              </a:spcBef>
            </a:pPr>
            <a:r>
              <a:rPr dirty="0" sz="2300" spc="-10">
                <a:solidFill>
                  <a:srgbClr val="8E2A2D"/>
                </a:solidFill>
                <a:latin typeface="Cambria"/>
                <a:cs typeface="Cambria"/>
              </a:rPr>
              <a:t>kararsızlık</a:t>
            </a:r>
            <a:r>
              <a:rPr dirty="0" sz="2300" spc="10">
                <a:solidFill>
                  <a:srgbClr val="8E2A2D"/>
                </a:solidFill>
                <a:latin typeface="Cambria"/>
                <a:cs typeface="Cambria"/>
              </a:rPr>
              <a:t> </a:t>
            </a:r>
            <a:r>
              <a:rPr dirty="0" sz="2300" spc="-40">
                <a:latin typeface="Cambria"/>
                <a:cs typeface="Cambria"/>
              </a:rPr>
              <a:t>(nunıerical</a:t>
            </a:r>
            <a:r>
              <a:rPr dirty="0" sz="2300" spc="120">
                <a:latin typeface="Cambria"/>
                <a:cs typeface="Cambria"/>
              </a:rPr>
              <a:t> </a:t>
            </a:r>
            <a:r>
              <a:rPr dirty="0" sz="2300" spc="-55">
                <a:latin typeface="Cambria"/>
                <a:cs typeface="Cambria"/>
              </a:rPr>
              <a:t>instability)</a:t>
            </a:r>
            <a:r>
              <a:rPr dirty="0" sz="2300" spc="-50">
                <a:latin typeface="Cambria"/>
                <a:cs typeface="Cambria"/>
              </a:rPr>
              <a:t> </a:t>
            </a:r>
            <a:r>
              <a:rPr dirty="0" sz="2300" spc="-25">
                <a:latin typeface="Cambria"/>
                <a:cs typeface="Cambria"/>
              </a:rPr>
              <a:t>göstermiş,</a:t>
            </a:r>
            <a:r>
              <a:rPr dirty="0" sz="2300" spc="15">
                <a:latin typeface="Cambria"/>
                <a:cs typeface="Cambria"/>
              </a:rPr>
              <a:t> </a:t>
            </a:r>
            <a:r>
              <a:rPr dirty="0" sz="2300" spc="-25">
                <a:latin typeface="Cambria"/>
                <a:cs typeface="Cambria"/>
              </a:rPr>
              <a:t>genlik</a:t>
            </a:r>
            <a:r>
              <a:rPr dirty="0" sz="2300" spc="-40">
                <a:latin typeface="Cambria"/>
                <a:cs typeface="Cambria"/>
              </a:rPr>
              <a:t> </a:t>
            </a:r>
            <a:r>
              <a:rPr dirty="0" sz="2300" spc="-10">
                <a:latin typeface="Cambria"/>
                <a:cs typeface="Cambria"/>
              </a:rPr>
              <a:t>kontrolsüz</a:t>
            </a:r>
            <a:endParaRPr sz="2300">
              <a:latin typeface="Cambria"/>
              <a:cs typeface="Cambria"/>
            </a:endParaRPr>
          </a:p>
          <a:p>
            <a:pPr marL="13970">
              <a:lnSpc>
                <a:spcPts val="2825"/>
              </a:lnSpc>
            </a:pPr>
            <a:r>
              <a:rPr dirty="0" sz="2400" spc="-120">
                <a:latin typeface="Cambria"/>
                <a:cs typeface="Cambria"/>
              </a:rPr>
              <a:t>bir</a:t>
            </a:r>
            <a:r>
              <a:rPr dirty="0" sz="2400" spc="-15">
                <a:latin typeface="Cambria"/>
                <a:cs typeface="Cambria"/>
              </a:rPr>
              <a:t> </a:t>
            </a:r>
            <a:r>
              <a:rPr dirty="0" sz="2400" spc="-65">
                <a:latin typeface="Cambria"/>
                <a:cs typeface="Cambria"/>
              </a:rPr>
              <a:t>şekilde </a:t>
            </a:r>
            <a:r>
              <a:rPr dirty="0" sz="2400" spc="-105">
                <a:latin typeface="Cambria"/>
                <a:cs typeface="Cambria"/>
              </a:rPr>
              <a:t>artarak</a:t>
            </a:r>
            <a:r>
              <a:rPr dirty="0" sz="2400" spc="-25">
                <a:latin typeface="Cambria"/>
                <a:cs typeface="Cambria"/>
              </a:rPr>
              <a:t> </a:t>
            </a:r>
            <a:r>
              <a:rPr dirty="0" sz="2400" spc="-85">
                <a:latin typeface="Cambria"/>
                <a:cs typeface="Cambria"/>
              </a:rPr>
              <a:t>ıraksamıştır</a:t>
            </a:r>
            <a:r>
              <a:rPr dirty="0" sz="2400" spc="95">
                <a:latin typeface="Cambria"/>
                <a:cs typeface="Cambria"/>
              </a:rPr>
              <a:t> </a:t>
            </a:r>
            <a:r>
              <a:rPr dirty="0" sz="2400" spc="-35">
                <a:latin typeface="Cambria"/>
                <a:cs typeface="Cambria"/>
              </a:rPr>
              <a:t>(divergence).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12800" y="6849533"/>
            <a:ext cx="15862300" cy="0"/>
          </a:xfrm>
          <a:custGeom>
            <a:avLst/>
            <a:gdLst/>
            <a:ahLst/>
            <a:cxnLst/>
            <a:rect l="l" t="t" r="r" b="b"/>
            <a:pathLst>
              <a:path w="15862300" h="0">
                <a:moveTo>
                  <a:pt x="0" y="0"/>
                </a:moveTo>
                <a:lnTo>
                  <a:pt x="15862300" y="0"/>
                </a:lnTo>
              </a:path>
            </a:pathLst>
          </a:custGeom>
          <a:ln w="25400">
            <a:solidFill>
              <a:srgbClr val="8A8A8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84433" y="363361"/>
            <a:ext cx="10671810" cy="8089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90">
                <a:solidFill>
                  <a:srgbClr val="313131"/>
                </a:solidFill>
              </a:rPr>
              <a:t>Sonuçlar</a:t>
            </a:r>
            <a:r>
              <a:rPr dirty="0" sz="5100" spc="-215">
                <a:solidFill>
                  <a:srgbClr val="313131"/>
                </a:solidFill>
              </a:rPr>
              <a:t> </a:t>
            </a:r>
            <a:r>
              <a:rPr dirty="0" sz="5100" spc="50">
                <a:solidFill>
                  <a:srgbClr val="343434"/>
                </a:solidFill>
              </a:rPr>
              <a:t>ve</a:t>
            </a:r>
            <a:r>
              <a:rPr dirty="0" sz="5100" spc="-885">
                <a:solidFill>
                  <a:srgbClr val="343434"/>
                </a:solidFill>
              </a:rPr>
              <a:t> </a:t>
            </a:r>
            <a:r>
              <a:rPr dirty="0" sz="5100" spc="-195">
                <a:solidFill>
                  <a:srgbClr val="2D2D2D"/>
                </a:solidFill>
              </a:rPr>
              <a:t>Mühendislik</a:t>
            </a:r>
            <a:r>
              <a:rPr dirty="0" sz="5100" spc="-204">
                <a:solidFill>
                  <a:srgbClr val="2D2D2D"/>
                </a:solidFill>
              </a:rPr>
              <a:t> </a:t>
            </a:r>
            <a:r>
              <a:rPr dirty="0" sz="5100" spc="-110">
                <a:solidFill>
                  <a:srgbClr val="313131"/>
                </a:solidFill>
              </a:rPr>
              <a:t>Perspektifi:</a:t>
            </a:r>
            <a:endParaRPr sz="5100"/>
          </a:p>
        </p:txBody>
      </p:sp>
      <p:sp>
        <p:nvSpPr>
          <p:cNvPr id="10" name="object 10" descr=""/>
          <p:cNvSpPr txBox="1"/>
          <p:nvPr/>
        </p:nvSpPr>
        <p:spPr>
          <a:xfrm>
            <a:off x="16107790" y="9460190"/>
            <a:ext cx="1233805" cy="20827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20"/>
              </a:lnSpc>
            </a:pPr>
            <a:r>
              <a:rPr dirty="0" sz="1300">
                <a:latin typeface="Lucida Sans Unicode"/>
                <a:cs typeface="Lucida Sans Unicode"/>
              </a:rPr>
              <a:t>G</a:t>
            </a:r>
            <a:r>
              <a:rPr dirty="0" sz="1300" spc="484">
                <a:latin typeface="Lucida Sans Unicode"/>
                <a:cs typeface="Lucida Sans Unicode"/>
              </a:rPr>
              <a:t> </a:t>
            </a:r>
            <a:r>
              <a:rPr dirty="0" sz="1300" spc="-30">
                <a:latin typeface="Lucida Sans Unicode"/>
                <a:cs typeface="Lucida Sans Unicode"/>
              </a:rPr>
              <a:t>NotebookLM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65120" y="1084438"/>
            <a:ext cx="9903460" cy="766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850" spc="-355">
                <a:solidFill>
                  <a:srgbClr val="262626"/>
                </a:solidFill>
                <a:latin typeface="Lucida Sans Unicode"/>
                <a:cs typeface="Lucida Sans Unicode"/>
              </a:rPr>
              <a:t>Kararlık,</a:t>
            </a:r>
            <a:r>
              <a:rPr dirty="0" sz="4850" spc="-285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4850" spc="-240">
                <a:solidFill>
                  <a:srgbClr val="242424"/>
                </a:solidFill>
                <a:latin typeface="Lucida Sans Unicode"/>
                <a:cs typeface="Lucida Sans Unicode"/>
              </a:rPr>
              <a:t>Maliyet</a:t>
            </a:r>
            <a:r>
              <a:rPr dirty="0" sz="4850" spc="-90">
                <a:solidFill>
                  <a:srgbClr val="242424"/>
                </a:solidFill>
                <a:latin typeface="Lucida Sans Unicode"/>
                <a:cs typeface="Lucida Sans Unicode"/>
              </a:rPr>
              <a:t> </a:t>
            </a:r>
            <a:r>
              <a:rPr dirty="0" sz="4850" spc="-140">
                <a:solidFill>
                  <a:srgbClr val="313131"/>
                </a:solidFill>
                <a:latin typeface="Lucida Sans Unicode"/>
                <a:cs typeface="Lucida Sans Unicode"/>
              </a:rPr>
              <a:t>ve</a:t>
            </a:r>
            <a:r>
              <a:rPr dirty="0" sz="4850" spc="-610">
                <a:solidFill>
                  <a:srgbClr val="313131"/>
                </a:solidFill>
                <a:latin typeface="Lucida Sans Unicode"/>
                <a:cs typeface="Lucida Sans Unicode"/>
              </a:rPr>
              <a:t> </a:t>
            </a:r>
            <a:r>
              <a:rPr dirty="0" sz="4850" spc="-390">
                <a:solidFill>
                  <a:srgbClr val="262626"/>
                </a:solidFill>
                <a:latin typeface="Lucida Sans Unicode"/>
                <a:cs typeface="Lucida Sans Unicode"/>
              </a:rPr>
              <a:t>Doğruluk</a:t>
            </a:r>
            <a:r>
              <a:rPr dirty="0" sz="4850" spc="-7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dirty="0" sz="4850" spc="-210">
                <a:solidFill>
                  <a:srgbClr val="232323"/>
                </a:solidFill>
                <a:latin typeface="Lucida Sans Unicode"/>
                <a:cs typeface="Lucida Sans Unicode"/>
              </a:rPr>
              <a:t>Dengesi</a:t>
            </a:r>
            <a:endParaRPr sz="4850">
              <a:latin typeface="Lucida Sans Unicode"/>
              <a:cs typeface="Lucida Sans Unicode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35572" y="2286352"/>
            <a:ext cx="12035155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822430" algn="l"/>
              </a:tabLst>
            </a:pPr>
            <a:r>
              <a:rPr dirty="0" sz="2750" spc="120">
                <a:latin typeface="Calibri"/>
                <a:cs typeface="Calibri"/>
              </a:rPr>
              <a:t>Doğruluk</a:t>
            </a:r>
            <a:r>
              <a:rPr dirty="0" sz="2750" spc="95">
                <a:latin typeface="Calibri"/>
                <a:cs typeface="Calibri"/>
              </a:rPr>
              <a:t> </a:t>
            </a:r>
            <a:r>
              <a:rPr dirty="0" sz="2750" spc="125">
                <a:latin typeface="Calibri"/>
                <a:cs typeface="Calibri"/>
              </a:rPr>
              <a:t>ve</a:t>
            </a:r>
            <a:r>
              <a:rPr dirty="0" sz="2750" spc="-75">
                <a:latin typeface="Calibri"/>
                <a:cs typeface="Calibri"/>
              </a:rPr>
              <a:t> </a:t>
            </a:r>
            <a:r>
              <a:rPr dirty="0" sz="2750" spc="155">
                <a:latin typeface="Calibri"/>
                <a:cs typeface="Calibri"/>
              </a:rPr>
              <a:t>Hata</a:t>
            </a:r>
            <a:r>
              <a:rPr dirty="0" sz="2750" spc="-135">
                <a:latin typeface="Calibri"/>
                <a:cs typeface="Calibri"/>
              </a:rPr>
              <a:t> </a:t>
            </a:r>
            <a:r>
              <a:rPr dirty="0" sz="2750" spc="110">
                <a:latin typeface="Calibri"/>
                <a:cs typeface="Calibri"/>
              </a:rPr>
              <a:t>Analizi</a:t>
            </a:r>
            <a:r>
              <a:rPr dirty="0" sz="2750">
                <a:latin typeface="Calibri"/>
                <a:cs typeface="Calibri"/>
              </a:rPr>
              <a:t>	</a:t>
            </a:r>
            <a:r>
              <a:rPr dirty="0" sz="2850" spc="-150">
                <a:latin typeface="Calibri"/>
                <a:cs typeface="Calibri"/>
              </a:rPr>
              <a:t>H</a:t>
            </a:r>
            <a:endParaRPr sz="285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494866" y="2379132"/>
          <a:ext cx="6908800" cy="4076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6755"/>
                <a:gridCol w="2340610"/>
                <a:gridCol w="2501265"/>
              </a:tblGrid>
              <a:tr h="749300">
                <a:tc>
                  <a:txBody>
                    <a:bodyPr/>
                    <a:lstStyle/>
                    <a:p>
                      <a:pPr marL="61849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750" spc="-40">
                          <a:latin typeface="Calibri"/>
                          <a:cs typeface="Calibri"/>
                        </a:rPr>
                        <a:t>Î¥Î</a:t>
                      </a:r>
                      <a:r>
                        <a:rPr dirty="0" sz="2850" spc="-40">
                          <a:latin typeface="Calibri"/>
                          <a:cs typeface="Calibri"/>
                        </a:rPr>
                        <a:t>etrik</a:t>
                      </a:r>
                      <a:endParaRPr sz="285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270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850" spc="-105">
                          <a:latin typeface="Calibri"/>
                          <a:cs typeface="Calibri"/>
                        </a:rPr>
                        <a:t>Euler</a:t>
                      </a:r>
                      <a:r>
                        <a:rPr dirty="0" sz="285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850" spc="-10">
                          <a:latin typeface="Calibri"/>
                          <a:cs typeface="Calibri"/>
                        </a:rPr>
                        <a:t>(Klasik)</a:t>
                      </a:r>
                      <a:endParaRPr sz="285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3380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dirty="0" sz="2850" spc="-10">
                          <a:latin typeface="Calibri"/>
                          <a:cs typeface="Calibri"/>
                        </a:rPr>
                        <a:t>RK4(Nodern)</a:t>
                      </a:r>
                      <a:endParaRPr sz="285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</a:tr>
              <a:tr h="1045210">
                <a:tc>
                  <a:txBody>
                    <a:bodyPr/>
                    <a:lstStyle/>
                    <a:p>
                      <a:pPr marL="616585" marR="201930" indent="-370205">
                        <a:lnSpc>
                          <a:spcPts val="2700"/>
                        </a:lnSpc>
                        <a:spcBef>
                          <a:spcPts val="1205"/>
                        </a:spcBef>
                      </a:pPr>
                      <a:r>
                        <a:rPr dirty="0" sz="2700" spc="-145">
                          <a:latin typeface="Calibri"/>
                          <a:cs typeface="Calibri"/>
                        </a:rPr>
                        <a:t>Yerel</a:t>
                      </a:r>
                      <a:r>
                        <a:rPr dirty="0" sz="2700" spc="-1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30">
                          <a:latin typeface="Calibri"/>
                          <a:cs typeface="Calibri"/>
                        </a:rPr>
                        <a:t>Kesme </a:t>
                      </a:r>
                      <a:r>
                        <a:rPr dirty="0" sz="2700" spc="-10">
                          <a:latin typeface="Calibri"/>
                          <a:cs typeface="Calibri"/>
                        </a:rPr>
                        <a:t>Hatası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9780" marR="124460" indent="-578485">
                        <a:lnSpc>
                          <a:spcPts val="2700"/>
                        </a:lnSpc>
                        <a:spcBef>
                          <a:spcPts val="1205"/>
                        </a:spcBef>
                      </a:pPr>
                      <a:r>
                        <a:rPr dirty="0" sz="2700" spc="-145">
                          <a:latin typeface="Calibri"/>
                          <a:cs typeface="Calibri"/>
                        </a:rPr>
                        <a:t>Düşük</a:t>
                      </a:r>
                      <a:r>
                        <a:rPr dirty="0" sz="27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14">
                          <a:latin typeface="Calibri"/>
                          <a:cs typeface="Calibri"/>
                        </a:rPr>
                        <a:t>Doğruluk </a:t>
                      </a:r>
                      <a:r>
                        <a:rPr dirty="0" sz="2700" spc="-10">
                          <a:latin typeface="Calibri"/>
                          <a:cs typeface="Calibri"/>
                        </a:rPr>
                        <a:t>(0(f›</a:t>
                      </a:r>
                      <a:r>
                        <a:rPr dirty="0" baseline="26143" sz="2550" spc="-15"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2700" spc="-10">
                          <a:latin typeface="Calibri"/>
                          <a:cs typeface="Calibri"/>
                        </a:rPr>
                        <a:t>))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153035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2865">
                        <a:lnSpc>
                          <a:spcPts val="2970"/>
                        </a:lnSpc>
                        <a:spcBef>
                          <a:spcPts val="665"/>
                        </a:spcBef>
                      </a:pPr>
                      <a:r>
                        <a:rPr dirty="0" sz="2700" spc="-140">
                          <a:latin typeface="Calibri"/>
                          <a:cs typeface="Calibri"/>
                        </a:rPr>
                        <a:t>Yüksek</a:t>
                      </a:r>
                      <a:r>
                        <a:rPr dirty="0" sz="2700" spc="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10">
                          <a:latin typeface="Calibri"/>
                          <a:cs typeface="Calibri"/>
                        </a:rPr>
                        <a:t>Doğruluk</a:t>
                      </a:r>
                      <a:endParaRPr sz="2700">
                        <a:latin typeface="Calibri"/>
                        <a:cs typeface="Calibri"/>
                      </a:endParaRPr>
                    </a:p>
                    <a:p>
                      <a:pPr algn="ctr" marL="60325">
                        <a:lnSpc>
                          <a:spcPts val="2970"/>
                        </a:lnSpc>
                      </a:pPr>
                      <a:r>
                        <a:rPr dirty="0" sz="2700" spc="-10" i="1">
                          <a:latin typeface="Calibri"/>
                          <a:cs typeface="Calibri"/>
                        </a:rPr>
                        <a:t>(0\h'))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84455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</a:tr>
              <a:tr h="1041400">
                <a:tc>
                  <a:txBody>
                    <a:bodyPr/>
                    <a:lstStyle/>
                    <a:p>
                      <a:pPr marL="501650" marR="406400" indent="-50800">
                        <a:lnSpc>
                          <a:spcPts val="2700"/>
                        </a:lnSpc>
                        <a:spcBef>
                          <a:spcPts val="1170"/>
                        </a:spcBef>
                      </a:pPr>
                      <a:r>
                        <a:rPr dirty="0" sz="2750" spc="-110">
                          <a:latin typeface="Calibri"/>
                          <a:cs typeface="Calibri"/>
                        </a:rPr>
                        <a:t>Kararlılık </a:t>
                      </a:r>
                      <a:r>
                        <a:rPr dirty="0" sz="2750" spc="-155">
                          <a:latin typeface="Calibri"/>
                          <a:cs typeface="Calibri"/>
                        </a:rPr>
                        <a:t>Durumu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148590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0545" marR="485140" indent="212090">
                        <a:lnSpc>
                          <a:spcPts val="2700"/>
                        </a:lnSpc>
                        <a:spcBef>
                          <a:spcPts val="1170"/>
                        </a:spcBef>
                      </a:pPr>
                      <a:r>
                        <a:rPr dirty="0" sz="2750" spc="-10">
                          <a:solidFill>
                            <a:srgbClr val="050505"/>
                          </a:solidFill>
                          <a:latin typeface="Calibri"/>
                          <a:cs typeface="Calibri"/>
                        </a:rPr>
                        <a:t>lraksak </a:t>
                      </a:r>
                      <a:r>
                        <a:rPr dirty="0" sz="2750" spc="-155">
                          <a:solidFill>
                            <a:srgbClr val="936E6E"/>
                          </a:solidFill>
                          <a:latin typeface="Calibri"/>
                          <a:cs typeface="Calibri"/>
                        </a:rPr>
                        <a:t>(Unstable)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148590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8980">
                        <a:lnSpc>
                          <a:spcPts val="2945"/>
                        </a:lnSpc>
                        <a:spcBef>
                          <a:spcPts val="630"/>
                        </a:spcBef>
                      </a:pPr>
                      <a:r>
                        <a:rPr dirty="0" sz="2700" spc="-10">
                          <a:latin typeface="Calibri"/>
                          <a:cs typeface="Calibri"/>
                        </a:rPr>
                        <a:t>Yakınsak</a:t>
                      </a:r>
                      <a:endParaRPr sz="2700">
                        <a:latin typeface="Calibri"/>
                        <a:cs typeface="Calibri"/>
                      </a:endParaRPr>
                    </a:p>
                    <a:p>
                      <a:pPr marL="800100">
                        <a:lnSpc>
                          <a:spcPts val="3005"/>
                        </a:lnSpc>
                      </a:pPr>
                      <a:r>
                        <a:rPr dirty="0" sz="2750" spc="-10">
                          <a:latin typeface="Calibri"/>
                          <a:cs typeface="Calibri"/>
                        </a:rPr>
                        <a:t>(stable)</a:t>
                      </a:r>
                      <a:endParaRPr sz="2750">
                        <a:latin typeface="Calibri"/>
                        <a:cs typeface="Calibri"/>
                      </a:endParaRPr>
                    </a:p>
                  </a:txBody>
                  <a:tcPr marL="0" marR="0" marB="0" marT="80010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</a:tr>
              <a:tr h="1240155">
                <a:tc>
                  <a:txBody>
                    <a:bodyPr/>
                    <a:lstStyle/>
                    <a:p>
                      <a:pPr algn="ctr" marL="41275">
                        <a:lnSpc>
                          <a:spcPts val="2985"/>
                        </a:lnSpc>
                        <a:spcBef>
                          <a:spcPts val="229"/>
                        </a:spcBef>
                      </a:pPr>
                      <a:r>
                        <a:rPr dirty="0" sz="2600" spc="-10">
                          <a:latin typeface="Calibri"/>
                          <a:cs typeface="Calibri"/>
                        </a:rPr>
                        <a:t>Maks.</a:t>
                      </a:r>
                      <a:endParaRPr sz="2600">
                        <a:latin typeface="Calibri"/>
                        <a:cs typeface="Calibri"/>
                      </a:endParaRPr>
                    </a:p>
                    <a:p>
                      <a:pPr algn="ctr" marL="27940">
                        <a:lnSpc>
                          <a:spcPts val="2555"/>
                        </a:lnSpc>
                      </a:pPr>
                      <a:r>
                        <a:rPr dirty="0" sz="2400" spc="-10">
                          <a:latin typeface="Calibri"/>
                          <a:cs typeface="Calibri"/>
                        </a:rPr>
                        <a:t>Deplasman</a:t>
                      </a:r>
                      <a:endParaRPr sz="2400">
                        <a:latin typeface="Calibri"/>
                        <a:cs typeface="Calibri"/>
                      </a:endParaRPr>
                    </a:p>
                    <a:p>
                      <a:pPr algn="ctr" marL="44450">
                        <a:lnSpc>
                          <a:spcPts val="2870"/>
                        </a:lnSpc>
                      </a:pPr>
                      <a:r>
                        <a:rPr dirty="0" sz="2550" spc="-10">
                          <a:latin typeface="Calibri"/>
                          <a:cs typeface="Calibri"/>
                        </a:rPr>
                        <a:t>Hatası</a:t>
                      </a:r>
                      <a:endParaRPr sz="255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7865">
                        <a:lnSpc>
                          <a:spcPts val="2905"/>
                        </a:lnSpc>
                        <a:spcBef>
                          <a:spcPts val="1580"/>
                        </a:spcBef>
                        <a:tabLst>
                          <a:tab pos="1450340" algn="l"/>
                        </a:tabLst>
                      </a:pPr>
                      <a:r>
                        <a:rPr dirty="0" sz="2550">
                          <a:solidFill>
                            <a:srgbClr val="B83833"/>
                          </a:solidFill>
                          <a:latin typeface="Calibri"/>
                          <a:cs typeface="Calibri"/>
                        </a:rPr>
                        <a:t>»</a:t>
                      </a:r>
                      <a:r>
                        <a:rPr dirty="0" sz="2550" spc="20">
                          <a:solidFill>
                            <a:srgbClr val="B8383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25">
                          <a:solidFill>
                            <a:srgbClr val="C6382D"/>
                          </a:solidFill>
                          <a:latin typeface="Calibri"/>
                          <a:cs typeface="Calibri"/>
                        </a:rPr>
                        <a:t>I0*</a:t>
                      </a:r>
                      <a:r>
                        <a:rPr dirty="0" sz="2550">
                          <a:solidFill>
                            <a:srgbClr val="C6382D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2550" spc="50">
                          <a:solidFill>
                            <a:srgbClr val="AF342B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2550">
                        <a:latin typeface="Calibri"/>
                        <a:cs typeface="Calibri"/>
                      </a:endParaRPr>
                    </a:p>
                    <a:p>
                      <a:pPr marL="781050">
                        <a:lnSpc>
                          <a:spcPts val="2845"/>
                        </a:lnSpc>
                      </a:pPr>
                      <a:r>
                        <a:rPr dirty="0" sz="2500" spc="-10">
                          <a:solidFill>
                            <a:srgbClr val="262626"/>
                          </a:solidFill>
                          <a:latin typeface="Calibri"/>
                          <a:cs typeface="Calibri"/>
                        </a:rPr>
                        <a:t>(Kritik)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200660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3660">
                        <a:lnSpc>
                          <a:spcPts val="2905"/>
                        </a:lnSpc>
                        <a:spcBef>
                          <a:spcPts val="1580"/>
                        </a:spcBef>
                      </a:pPr>
                      <a:r>
                        <a:rPr dirty="0" sz="2550" spc="75">
                          <a:solidFill>
                            <a:srgbClr val="0C444F"/>
                          </a:solidFill>
                          <a:latin typeface="Calibri"/>
                          <a:cs typeface="Calibri"/>
                        </a:rPr>
                        <a:t>«</a:t>
                      </a:r>
                      <a:r>
                        <a:rPr dirty="0" sz="2550" spc="-130">
                          <a:solidFill>
                            <a:srgbClr val="0C44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-445">
                          <a:solidFill>
                            <a:srgbClr val="0F4960"/>
                          </a:solidFill>
                          <a:latin typeface="Calibri"/>
                          <a:cs typeface="Calibri"/>
                        </a:rPr>
                        <a:t>10—</a:t>
                      </a:r>
                      <a:r>
                        <a:rPr dirty="0" sz="2550" spc="-345">
                          <a:solidFill>
                            <a:srgbClr val="0F4960"/>
                          </a:solidFill>
                          <a:latin typeface="Calibri"/>
                          <a:cs typeface="Calibri"/>
                        </a:rPr>
                        <a:t>^</a:t>
                      </a:r>
                      <a:r>
                        <a:rPr dirty="0" sz="2550" spc="-85">
                          <a:solidFill>
                            <a:srgbClr val="0F49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50" spc="50">
                          <a:solidFill>
                            <a:srgbClr val="0A3F4F"/>
                          </a:solidFill>
                          <a:latin typeface="Calibri"/>
                          <a:cs typeface="Calibri"/>
                        </a:rPr>
                        <a:t>m</a:t>
                      </a:r>
                      <a:endParaRPr sz="2550">
                        <a:latin typeface="Calibri"/>
                        <a:cs typeface="Calibri"/>
                      </a:endParaRPr>
                    </a:p>
                    <a:p>
                      <a:pPr algn="ctr" marL="47625">
                        <a:lnSpc>
                          <a:spcPts val="2845"/>
                        </a:lnSpc>
                      </a:pPr>
                      <a:r>
                        <a:rPr dirty="0" sz="2500" spc="-30">
                          <a:latin typeface="Calibri"/>
                          <a:cs typeface="Calibri"/>
                        </a:rPr>
                        <a:t>(İhmal</a:t>
                      </a:r>
                      <a:r>
                        <a:rPr dirty="0" sz="25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500" spc="-10">
                          <a:latin typeface="Calibri"/>
                          <a:cs typeface="Calibri"/>
                        </a:rPr>
                        <a:t>Edilebilir)</a:t>
                      </a:r>
                      <a:endParaRPr sz="2500">
                        <a:latin typeface="Calibri"/>
                        <a:cs typeface="Calibri"/>
                      </a:endParaRPr>
                    </a:p>
                  </a:txBody>
                  <a:tcPr marL="0" marR="0" marB="0" marT="200660">
                    <a:lnL w="12700">
                      <a:solidFill>
                        <a:srgbClr val="484844"/>
                      </a:solidFill>
                      <a:prstDash val="solid"/>
                    </a:lnL>
                    <a:lnR w="12700">
                      <a:solidFill>
                        <a:srgbClr val="484844"/>
                      </a:solidFill>
                      <a:prstDash val="solid"/>
                    </a:lnR>
                    <a:lnT w="12700">
                      <a:solidFill>
                        <a:srgbClr val="484844"/>
                      </a:solidFill>
                      <a:prstDash val="solid"/>
                    </a:lnT>
                    <a:lnB w="12700">
                      <a:solidFill>
                        <a:srgbClr val="48484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897180" y="2792588"/>
            <a:ext cx="4332605" cy="361950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360045" marR="159385" indent="-308610">
              <a:lnSpc>
                <a:spcPct val="86500"/>
              </a:lnSpc>
              <a:spcBef>
                <a:spcPts val="490"/>
              </a:spcBef>
              <a:buChar char="•"/>
              <a:tabLst>
                <a:tab pos="363220" algn="l"/>
              </a:tabLst>
            </a:pPr>
            <a:r>
              <a:rPr dirty="0" sz="2350" spc="70">
                <a:latin typeface="Calibri"/>
                <a:cs typeface="Calibri"/>
              </a:rPr>
              <a:t>RX4</a:t>
            </a:r>
            <a:r>
              <a:rPr dirty="0" sz="2350" spc="-120">
                <a:latin typeface="Calibri"/>
                <a:cs typeface="Calibri"/>
              </a:rPr>
              <a:t> </a:t>
            </a:r>
            <a:r>
              <a:rPr dirty="0" sz="2350" spc="-50">
                <a:latin typeface="Calibri"/>
                <a:cs typeface="Calibri"/>
              </a:rPr>
              <a:t>Yöntemi:</a:t>
            </a:r>
            <a:r>
              <a:rPr dirty="0" sz="2350" spc="-40">
                <a:latin typeface="Calibri"/>
                <a:cs typeface="Calibri"/>
              </a:rPr>
              <a:t> </a:t>
            </a:r>
            <a:r>
              <a:rPr dirty="0" sz="2350" spc="-85">
                <a:latin typeface="Calibri"/>
                <a:cs typeface="Calibri"/>
              </a:rPr>
              <a:t>Enerji</a:t>
            </a:r>
            <a:r>
              <a:rPr dirty="0" sz="2350" spc="-35">
                <a:latin typeface="Calibri"/>
                <a:cs typeface="Calibri"/>
              </a:rPr>
              <a:t> </a:t>
            </a:r>
            <a:r>
              <a:rPr dirty="0" sz="2350" spc="-110">
                <a:latin typeface="Calibri"/>
                <a:cs typeface="Calibri"/>
              </a:rPr>
              <a:t>korunumunu </a:t>
            </a:r>
            <a:r>
              <a:rPr dirty="0" sz="2350" spc="-110">
                <a:latin typeface="Calibri"/>
                <a:cs typeface="Calibri"/>
              </a:rPr>
              <a:t>	</a:t>
            </a:r>
            <a:r>
              <a:rPr dirty="0" sz="2350" spc="-60">
                <a:latin typeface="Calibri"/>
                <a:cs typeface="Calibri"/>
              </a:rPr>
              <a:t>sağlayacak</a:t>
            </a:r>
            <a:r>
              <a:rPr dirty="0" sz="2350" spc="25">
                <a:latin typeface="Calibri"/>
                <a:cs typeface="Calibri"/>
              </a:rPr>
              <a:t> </a:t>
            </a:r>
            <a:r>
              <a:rPr dirty="0" sz="2350" spc="-30">
                <a:latin typeface="Calibri"/>
                <a:cs typeface="Calibri"/>
              </a:rPr>
              <a:t>fiziksel</a:t>
            </a:r>
            <a:r>
              <a:rPr dirty="0" sz="2350" spc="-15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tutarlılığı </a:t>
            </a:r>
            <a:r>
              <a:rPr dirty="0" sz="2350" spc="-10">
                <a:latin typeface="Calibri"/>
                <a:cs typeface="Calibri"/>
              </a:rPr>
              <a:t>	</a:t>
            </a:r>
            <a:r>
              <a:rPr dirty="0" sz="2300" spc="-80">
                <a:latin typeface="Calibri"/>
                <a:cs typeface="Calibri"/>
              </a:rPr>
              <a:t>korumuştur.</a:t>
            </a:r>
            <a:r>
              <a:rPr dirty="0" sz="2300" spc="4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Maksimum </a:t>
            </a:r>
            <a:r>
              <a:rPr dirty="0" sz="2300" spc="-10">
                <a:latin typeface="Calibri"/>
                <a:cs typeface="Calibri"/>
              </a:rPr>
              <a:t>	</a:t>
            </a:r>
            <a:r>
              <a:rPr dirty="0" sz="2500" spc="-160">
                <a:latin typeface="Calibri"/>
                <a:cs typeface="Calibri"/>
              </a:rPr>
              <a:t>deplasman</a:t>
            </a:r>
            <a:r>
              <a:rPr dirty="0" sz="2500" spc="15">
                <a:latin typeface="Calibri"/>
                <a:cs typeface="Calibri"/>
              </a:rPr>
              <a:t> </a:t>
            </a:r>
            <a:r>
              <a:rPr dirty="0" sz="2500" spc="-135">
                <a:latin typeface="Calibri"/>
                <a:cs typeface="Calibri"/>
              </a:rPr>
              <a:t>hatası</a:t>
            </a:r>
            <a:r>
              <a:rPr dirty="0" sz="2500" spc="-15">
                <a:latin typeface="Calibri"/>
                <a:cs typeface="Calibri"/>
              </a:rPr>
              <a:t> </a:t>
            </a:r>
            <a:r>
              <a:rPr dirty="0" sz="2500" spc="-145">
                <a:latin typeface="Calibri"/>
                <a:cs typeface="Calibri"/>
              </a:rPr>
              <a:t>ihmal</a:t>
            </a:r>
            <a:r>
              <a:rPr dirty="0" sz="2500" spc="-110">
                <a:latin typeface="Calibri"/>
                <a:cs typeface="Calibri"/>
              </a:rPr>
              <a:t> </a:t>
            </a:r>
            <a:r>
              <a:rPr dirty="0" sz="2500" spc="-55">
                <a:latin typeface="Calibri"/>
                <a:cs typeface="Calibri"/>
              </a:rPr>
              <a:t>edilebilir </a:t>
            </a:r>
            <a:r>
              <a:rPr dirty="0" sz="2500" spc="-55">
                <a:latin typeface="Calibri"/>
                <a:cs typeface="Calibri"/>
              </a:rPr>
              <a:t>	</a:t>
            </a:r>
            <a:r>
              <a:rPr dirty="0" sz="2400" spc="-110">
                <a:latin typeface="Calibri"/>
                <a:cs typeface="Calibri"/>
              </a:rPr>
              <a:t>düzeydedir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(&lt;</a:t>
            </a:r>
            <a:r>
              <a:rPr dirty="0" sz="2400" spc="-240">
                <a:latin typeface="Calibri"/>
                <a:cs typeface="Calibri"/>
              </a:rPr>
              <a:t> </a:t>
            </a:r>
            <a:r>
              <a:rPr dirty="0" sz="2400" spc="-120">
                <a:solidFill>
                  <a:srgbClr val="333333"/>
                </a:solidFill>
                <a:latin typeface="Calibri"/>
                <a:cs typeface="Calibri"/>
              </a:rPr>
              <a:t>10-^</a:t>
            </a:r>
            <a:r>
              <a:rPr dirty="0" sz="2400" spc="-1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m).</a:t>
            </a:r>
            <a:endParaRPr sz="2400">
              <a:latin typeface="Calibri"/>
              <a:cs typeface="Calibri"/>
            </a:endParaRPr>
          </a:p>
          <a:p>
            <a:pPr marL="358775" marR="55880" indent="-321310">
              <a:lnSpc>
                <a:spcPct val="86400"/>
              </a:lnSpc>
              <a:spcBef>
                <a:spcPts val="580"/>
              </a:spcBef>
              <a:buChar char="•"/>
              <a:tabLst>
                <a:tab pos="361315" algn="l"/>
              </a:tabLst>
            </a:pPr>
            <a:r>
              <a:rPr dirty="0" sz="2500" spc="-55">
                <a:latin typeface="Calibri"/>
                <a:cs typeface="Calibri"/>
              </a:rPr>
              <a:t>Euler</a:t>
            </a:r>
            <a:r>
              <a:rPr dirty="0" sz="2500" spc="-130">
                <a:latin typeface="Calibri"/>
                <a:cs typeface="Calibri"/>
              </a:rPr>
              <a:t> </a:t>
            </a:r>
            <a:r>
              <a:rPr dirty="0" sz="2500" spc="-140">
                <a:latin typeface="Calibri"/>
                <a:cs typeface="Calibri"/>
              </a:rPr>
              <a:t>Yöntemi:</a:t>
            </a:r>
            <a:r>
              <a:rPr dirty="0" sz="2500" spc="-60">
                <a:latin typeface="Calibri"/>
                <a:cs typeface="Calibri"/>
              </a:rPr>
              <a:t> </a:t>
            </a:r>
            <a:r>
              <a:rPr dirty="0" sz="2500" spc="-155">
                <a:latin typeface="Calibri"/>
                <a:cs typeface="Calibri"/>
              </a:rPr>
              <a:t>Kümülatif</a:t>
            </a:r>
            <a:r>
              <a:rPr dirty="0" sz="2500" spc="114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hata </a:t>
            </a:r>
            <a:r>
              <a:rPr dirty="0" sz="2500" spc="-20">
                <a:latin typeface="Calibri"/>
                <a:cs typeface="Calibri"/>
              </a:rPr>
              <a:t>	</a:t>
            </a:r>
            <a:r>
              <a:rPr dirty="0" sz="2350" spc="-75">
                <a:latin typeface="Calibri"/>
                <a:cs typeface="Calibri"/>
              </a:rPr>
              <a:t>birikimi</a:t>
            </a:r>
            <a:r>
              <a:rPr dirty="0" sz="2350" spc="-85">
                <a:latin typeface="Calibri"/>
                <a:cs typeface="Calibri"/>
              </a:rPr>
              <a:t> </a:t>
            </a:r>
            <a:r>
              <a:rPr dirty="0" sz="2350" spc="-50">
                <a:latin typeface="Calibri"/>
                <a:cs typeface="Calibri"/>
              </a:rPr>
              <a:t>ve</a:t>
            </a:r>
            <a:r>
              <a:rPr dirty="0" sz="2350" spc="-85">
                <a:latin typeface="Calibri"/>
                <a:cs typeface="Calibri"/>
              </a:rPr>
              <a:t> yapay</a:t>
            </a:r>
            <a:r>
              <a:rPr dirty="0" sz="2350" spc="-20">
                <a:latin typeface="Calibri"/>
                <a:cs typeface="Calibri"/>
              </a:rPr>
              <a:t> </a:t>
            </a:r>
            <a:r>
              <a:rPr dirty="0" sz="2350" spc="-90">
                <a:latin typeface="Calibri"/>
                <a:cs typeface="Calibri"/>
              </a:rPr>
              <a:t>enerji</a:t>
            </a:r>
            <a:r>
              <a:rPr dirty="0" sz="2350" spc="3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artışı </a:t>
            </a:r>
            <a:r>
              <a:rPr dirty="0" sz="2350" spc="-10">
                <a:latin typeface="Calibri"/>
                <a:cs typeface="Calibri"/>
              </a:rPr>
              <a:t>	</a:t>
            </a:r>
            <a:r>
              <a:rPr dirty="0" sz="2400" spc="-110">
                <a:latin typeface="Calibri"/>
                <a:cs typeface="Calibri"/>
              </a:rPr>
              <a:t>nedeniyle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40">
                <a:latin typeface="Calibri"/>
                <a:cs typeface="Calibri"/>
              </a:rPr>
              <a:t>sayısal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olarak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300" spc="-60">
                <a:latin typeface="Calibri"/>
                <a:cs typeface="Calibri"/>
              </a:rPr>
              <a:t>çökmüştür.</a:t>
            </a:r>
            <a:r>
              <a:rPr dirty="0" sz="2300" spc="-25">
                <a:latin typeface="Calibri"/>
                <a:cs typeface="Calibri"/>
              </a:rPr>
              <a:t> </a:t>
            </a:r>
            <a:r>
              <a:rPr dirty="0" sz="2300" spc="-95">
                <a:latin typeface="Calibri"/>
                <a:cs typeface="Calibri"/>
              </a:rPr>
              <a:t>Maksimum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 spc="-20">
                <a:latin typeface="Calibri"/>
                <a:cs typeface="Calibri"/>
              </a:rPr>
              <a:t>deplasman </a:t>
            </a:r>
            <a:r>
              <a:rPr dirty="0" sz="2300" spc="-20">
                <a:latin typeface="Calibri"/>
                <a:cs typeface="Calibri"/>
              </a:rPr>
              <a:t>	</a:t>
            </a:r>
            <a:r>
              <a:rPr dirty="0" sz="2500" spc="-114">
                <a:latin typeface="Calibri"/>
                <a:cs typeface="Calibri"/>
              </a:rPr>
              <a:t>hatası</a:t>
            </a:r>
            <a:r>
              <a:rPr dirty="0" sz="2500" spc="-15">
                <a:latin typeface="Calibri"/>
                <a:cs typeface="Calibri"/>
              </a:rPr>
              <a:t> </a:t>
            </a:r>
            <a:r>
              <a:rPr dirty="0" sz="2500" spc="-95">
                <a:latin typeface="Calibri"/>
                <a:cs typeface="Calibri"/>
              </a:rPr>
              <a:t>fiziksel</a:t>
            </a:r>
            <a:r>
              <a:rPr dirty="0" sz="2500" spc="-90">
                <a:latin typeface="Calibri"/>
                <a:cs typeface="Calibri"/>
              </a:rPr>
              <a:t> </a:t>
            </a:r>
            <a:r>
              <a:rPr dirty="0" sz="2500" spc="-150">
                <a:latin typeface="Calibri"/>
                <a:cs typeface="Calibri"/>
              </a:rPr>
              <a:t>olarak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sz="2500" spc="-130">
                <a:latin typeface="Calibri"/>
                <a:cs typeface="Calibri"/>
              </a:rPr>
              <a:t>anlamsız</a:t>
            </a:r>
            <a:r>
              <a:rPr dirty="0" sz="2500" spc="2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ve </a:t>
            </a:r>
            <a:r>
              <a:rPr dirty="0" sz="2500" spc="-25">
                <a:latin typeface="Calibri"/>
                <a:cs typeface="Calibri"/>
              </a:rPr>
              <a:t>	</a:t>
            </a:r>
            <a:r>
              <a:rPr dirty="0" sz="2400" spc="-55">
                <a:latin typeface="Calibri"/>
                <a:cs typeface="Calibri"/>
              </a:rPr>
              <a:t>kritik </a:t>
            </a:r>
            <a:r>
              <a:rPr dirty="0" sz="2400" spc="-105">
                <a:latin typeface="Calibri"/>
                <a:cs typeface="Calibri"/>
              </a:rPr>
              <a:t>seviyededir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 spc="-70">
                <a:latin typeface="Calibri"/>
                <a:cs typeface="Calibri"/>
              </a:rPr>
              <a:t>(»</a:t>
            </a:r>
            <a:r>
              <a:rPr dirty="0" sz="2400" spc="-135"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B83F36"/>
                </a:solidFill>
                <a:latin typeface="Calibri"/>
                <a:cs typeface="Calibri"/>
              </a:rPr>
              <a:t>10</a:t>
            </a:r>
            <a:r>
              <a:rPr dirty="0" baseline="32051" sz="1950">
                <a:solidFill>
                  <a:srgbClr val="B83F36"/>
                </a:solidFill>
                <a:latin typeface="Calibri"/>
                <a:cs typeface="Calibri"/>
              </a:rPr>
              <a:t>4</a:t>
            </a:r>
            <a:r>
              <a:rPr dirty="0" baseline="32051" sz="1950" spc="359">
                <a:solidFill>
                  <a:srgbClr val="B83F36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m).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2761468" y="2177654"/>
            <a:ext cx="3948429" cy="3981450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433705">
              <a:lnSpc>
                <a:spcPct val="100000"/>
              </a:lnSpc>
              <a:spcBef>
                <a:spcPts val="950"/>
              </a:spcBef>
            </a:pPr>
            <a:r>
              <a:rPr dirty="0" sz="2850" spc="55">
                <a:latin typeface="Calibri"/>
                <a:cs typeface="Calibri"/>
              </a:rPr>
              <a:t>Saplama</a:t>
            </a:r>
            <a:r>
              <a:rPr dirty="0" sz="2850" spc="-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Verimliliği</a:t>
            </a:r>
            <a:endParaRPr sz="2850">
              <a:latin typeface="Calibri"/>
              <a:cs typeface="Calibri"/>
            </a:endParaRPr>
          </a:p>
          <a:p>
            <a:pPr marL="356235" marR="5080" indent="-356870">
              <a:lnSpc>
                <a:spcPct val="94800"/>
              </a:lnSpc>
              <a:spcBef>
                <a:spcPts val="825"/>
              </a:spcBef>
              <a:buChar char="•"/>
              <a:tabLst>
                <a:tab pos="356235" algn="l"/>
                <a:tab pos="358140" algn="l"/>
              </a:tabLst>
            </a:pPr>
            <a:r>
              <a:rPr dirty="0" sz="2300">
                <a:latin typeface="Calibri"/>
                <a:cs typeface="Calibri"/>
              </a:rPr>
              <a:t>	RK4</a:t>
            </a:r>
            <a:r>
              <a:rPr dirty="0" sz="2300" spc="-125">
                <a:latin typeface="Calibri"/>
                <a:cs typeface="Calibri"/>
              </a:rPr>
              <a:t> </a:t>
            </a:r>
            <a:r>
              <a:rPr dirty="0" sz="2300" spc="-60">
                <a:latin typeface="Calibri"/>
                <a:cs typeface="Calibri"/>
              </a:rPr>
              <a:t>adım</a:t>
            </a:r>
            <a:r>
              <a:rPr dirty="0" sz="2300" spc="-7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başına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 spc="-35">
                <a:latin typeface="Calibri"/>
                <a:cs typeface="Calibri"/>
              </a:rPr>
              <a:t>daha</a:t>
            </a:r>
            <a:r>
              <a:rPr dirty="0" sz="2300" spc="-95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maliyetli </a:t>
            </a:r>
            <a:r>
              <a:rPr dirty="0" sz="2300">
                <a:latin typeface="Calibri"/>
                <a:cs typeface="Calibri"/>
              </a:rPr>
              <a:t>olsa</a:t>
            </a:r>
            <a:r>
              <a:rPr dirty="0" sz="2300" spc="-120">
                <a:latin typeface="Calibri"/>
                <a:cs typeface="Calibri"/>
              </a:rPr>
              <a:t> </a:t>
            </a:r>
            <a:r>
              <a:rPr dirty="0" sz="2300" spc="-35">
                <a:latin typeface="Calibri"/>
                <a:cs typeface="Calibri"/>
              </a:rPr>
              <a:t>da,</a:t>
            </a:r>
            <a:r>
              <a:rPr dirty="0" sz="2300" spc="-105">
                <a:latin typeface="Calibri"/>
                <a:cs typeface="Calibri"/>
              </a:rPr>
              <a:t> </a:t>
            </a:r>
            <a:r>
              <a:rPr dirty="0" sz="2300" spc="-45">
                <a:latin typeface="Calibri"/>
                <a:cs typeface="Calibri"/>
              </a:rPr>
              <a:t>Euler'in</a:t>
            </a:r>
            <a:r>
              <a:rPr dirty="0" sz="2300" spc="-20">
                <a:latin typeface="Calibri"/>
                <a:cs typeface="Calibri"/>
              </a:rPr>
              <a:t> </a:t>
            </a:r>
            <a:r>
              <a:rPr dirty="0" sz="2300" spc="-70">
                <a:latin typeface="Calibri"/>
                <a:cs typeface="Calibri"/>
              </a:rPr>
              <a:t>kararlı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bir </a:t>
            </a:r>
            <a:r>
              <a:rPr dirty="0" sz="2300" spc="-10">
                <a:latin typeface="Calibri"/>
                <a:cs typeface="Calibri"/>
              </a:rPr>
              <a:t>sonuç</a:t>
            </a:r>
            <a:r>
              <a:rPr dirty="0" sz="2300" spc="-105">
                <a:latin typeface="Calibri"/>
                <a:cs typeface="Calibri"/>
              </a:rPr>
              <a:t> </a:t>
            </a:r>
            <a:r>
              <a:rPr dirty="0" sz="2300" spc="-60">
                <a:latin typeface="Calibri"/>
                <a:cs typeface="Calibri"/>
              </a:rPr>
              <a:t>üretebilmesi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 spc="-20">
                <a:latin typeface="Calibri"/>
                <a:cs typeface="Calibri"/>
              </a:rPr>
              <a:t>için</a:t>
            </a:r>
            <a:r>
              <a:rPr dirty="0" sz="2300" spc="575">
                <a:latin typeface="Calibri"/>
                <a:cs typeface="Calibri"/>
              </a:rPr>
              <a:t> </a:t>
            </a:r>
            <a:r>
              <a:rPr dirty="0" sz="2300" spc="-70">
                <a:latin typeface="Calibri"/>
                <a:cs typeface="Calibri"/>
              </a:rPr>
              <a:t>gereken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çok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 spc="-35">
                <a:latin typeface="Calibri"/>
                <a:cs typeface="Calibri"/>
              </a:rPr>
              <a:t>daha</a:t>
            </a:r>
            <a:r>
              <a:rPr dirty="0" sz="2300" spc="-100">
                <a:latin typeface="Calibri"/>
                <a:cs typeface="Calibri"/>
              </a:rPr>
              <a:t> </a:t>
            </a:r>
            <a:r>
              <a:rPr dirty="0" sz="2300" spc="-45">
                <a:latin typeface="Calibri"/>
                <a:cs typeface="Calibri"/>
              </a:rPr>
              <a:t>küçük</a:t>
            </a:r>
            <a:r>
              <a:rPr dirty="0" sz="2300" spc="-8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zaman </a:t>
            </a:r>
            <a:r>
              <a:rPr dirty="0" sz="2300" spc="-140">
                <a:latin typeface="Calibri"/>
                <a:cs typeface="Calibri"/>
              </a:rPr>
              <a:t>adamları</a:t>
            </a:r>
            <a:r>
              <a:rPr dirty="0" sz="2300" spc="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(At</a:t>
            </a:r>
            <a:r>
              <a:rPr dirty="0" sz="2300" spc="15">
                <a:latin typeface="Calibri"/>
                <a:cs typeface="Calibri"/>
              </a:rPr>
              <a:t> </a:t>
            </a:r>
            <a:r>
              <a:rPr dirty="0" sz="2300" spc="-990">
                <a:latin typeface="Calibri"/>
                <a:cs typeface="Calibri"/>
              </a:rPr>
              <a:t>—</a:t>
            </a:r>
            <a:r>
              <a:rPr dirty="0" sz="2300" spc="-545">
                <a:latin typeface="Calibri"/>
                <a:cs typeface="Calibri"/>
              </a:rPr>
              <a:t>•</a:t>
            </a:r>
            <a:r>
              <a:rPr dirty="0" sz="2300" spc="150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0),</a:t>
            </a:r>
            <a:r>
              <a:rPr dirty="0" sz="2300" spc="-16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toplam </a:t>
            </a:r>
            <a:r>
              <a:rPr dirty="0" sz="2300" spc="-40">
                <a:latin typeface="Calibri"/>
                <a:cs typeface="Calibri"/>
              </a:rPr>
              <a:t>hesaplama</a:t>
            </a:r>
            <a:r>
              <a:rPr dirty="0" sz="2300" spc="-80">
                <a:latin typeface="Calibri"/>
                <a:cs typeface="Calibri"/>
              </a:rPr>
              <a:t> </a:t>
            </a:r>
            <a:r>
              <a:rPr dirty="0" sz="2300" spc="-60">
                <a:latin typeface="Calibri"/>
                <a:cs typeface="Calibri"/>
              </a:rPr>
              <a:t>maliyetini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RK4’ün </a:t>
            </a:r>
            <a:r>
              <a:rPr dirty="0" sz="2300" spc="-55">
                <a:latin typeface="Calibri"/>
                <a:cs typeface="Calibri"/>
              </a:rPr>
              <a:t>üzerine</a:t>
            </a:r>
            <a:r>
              <a:rPr dirty="0" sz="2300" spc="-8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çıkarmaktadır. </a:t>
            </a:r>
            <a:r>
              <a:rPr dirty="0" sz="2300" spc="-35">
                <a:latin typeface="Calibri"/>
                <a:cs typeface="Calibri"/>
              </a:rPr>
              <a:t>Dolayısıyla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 spc="-20">
                <a:latin typeface="Calibri"/>
                <a:cs typeface="Calibri"/>
              </a:rPr>
              <a:t>RK4, </a:t>
            </a:r>
            <a:r>
              <a:rPr dirty="0" sz="2300" spc="20">
                <a:solidFill>
                  <a:srgbClr val="0C2D49"/>
                </a:solidFill>
                <a:latin typeface="Calibri"/>
                <a:cs typeface="Calibri"/>
              </a:rPr>
              <a:t>doğruluk/maliyet</a:t>
            </a:r>
            <a:r>
              <a:rPr dirty="0" sz="2300" spc="85">
                <a:solidFill>
                  <a:srgbClr val="0C2D49"/>
                </a:solidFill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açısından </a:t>
            </a:r>
            <a:r>
              <a:rPr dirty="0" sz="2200">
                <a:latin typeface="Calibri"/>
                <a:cs typeface="Calibri"/>
              </a:rPr>
              <a:t>daha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verimli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bir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yöntemdir.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25073" y="6939095"/>
            <a:ext cx="15688944" cy="2128520"/>
          </a:xfrm>
          <a:prstGeom prst="rect">
            <a:avLst/>
          </a:prstGeom>
        </p:spPr>
        <p:txBody>
          <a:bodyPr wrap="square" lIns="0" tIns="14732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160"/>
              </a:spcBef>
            </a:pPr>
            <a:r>
              <a:rPr dirty="0" sz="2750" spc="75">
                <a:latin typeface="Calibri"/>
                <a:cs typeface="Calibri"/>
              </a:rPr>
              <a:t>Temel</a:t>
            </a:r>
            <a:r>
              <a:rPr dirty="0" sz="2750" spc="-45">
                <a:latin typeface="Calibri"/>
                <a:cs typeface="Calibri"/>
              </a:rPr>
              <a:t> </a:t>
            </a:r>
            <a:r>
              <a:rPr dirty="0" sz="2750" spc="125">
                <a:latin typeface="Calibri"/>
                <a:cs typeface="Calibri"/>
              </a:rPr>
              <a:t>Çıkarım</a:t>
            </a:r>
            <a:r>
              <a:rPr dirty="0" sz="2750" spc="105">
                <a:latin typeface="Calibri"/>
                <a:cs typeface="Calibri"/>
              </a:rPr>
              <a:t> </a:t>
            </a:r>
            <a:r>
              <a:rPr dirty="0" sz="2750" spc="140">
                <a:latin typeface="Calibri"/>
                <a:cs typeface="Calibri"/>
              </a:rPr>
              <a:t>ve</a:t>
            </a:r>
            <a:r>
              <a:rPr dirty="0" sz="2750" spc="-85">
                <a:latin typeface="Calibri"/>
                <a:cs typeface="Calibri"/>
              </a:rPr>
              <a:t> </a:t>
            </a:r>
            <a:r>
              <a:rPr dirty="0" sz="2750" spc="145">
                <a:latin typeface="Calibri"/>
                <a:cs typeface="Calibri"/>
              </a:rPr>
              <a:t>Gelecek</a:t>
            </a:r>
            <a:r>
              <a:rPr dirty="0" sz="2750" spc="-65">
                <a:latin typeface="Calibri"/>
                <a:cs typeface="Calibri"/>
              </a:rPr>
              <a:t> </a:t>
            </a:r>
            <a:r>
              <a:rPr dirty="0" sz="2750" spc="114">
                <a:latin typeface="Calibri"/>
                <a:cs typeface="Calibri"/>
              </a:rPr>
              <a:t>Çalışmalar:</a:t>
            </a:r>
            <a:endParaRPr sz="2750">
              <a:latin typeface="Calibri"/>
              <a:cs typeface="Calibri"/>
            </a:endParaRPr>
          </a:p>
          <a:p>
            <a:pPr marL="368935" indent="-356235">
              <a:lnSpc>
                <a:spcPts val="2730"/>
              </a:lnSpc>
              <a:spcBef>
                <a:spcPts val="850"/>
              </a:spcBef>
              <a:buChar char="•"/>
              <a:tabLst>
                <a:tab pos="368935" algn="l"/>
              </a:tabLst>
            </a:pPr>
            <a:r>
              <a:rPr dirty="0" sz="2300" spc="50">
                <a:latin typeface="Calibri"/>
                <a:cs typeface="Calibri"/>
              </a:rPr>
              <a:t>Çıkarım:</a:t>
            </a:r>
            <a:r>
              <a:rPr dirty="0" sz="2300" spc="-13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Yapısal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güvenlik</a:t>
            </a:r>
            <a:r>
              <a:rPr dirty="0" sz="2300" spc="2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analizlerinde</a:t>
            </a:r>
            <a:r>
              <a:rPr dirty="0" sz="2300" spc="70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algoritrna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seçimi,</a:t>
            </a:r>
            <a:r>
              <a:rPr dirty="0" sz="2300" spc="-7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sonucun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güvenilirligini</a:t>
            </a:r>
            <a:r>
              <a:rPr dirty="0" sz="2300" spc="-13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ve</a:t>
            </a:r>
            <a:r>
              <a:rPr dirty="0" sz="2300" spc="-1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fiziksel</a:t>
            </a:r>
            <a:r>
              <a:rPr dirty="0" sz="2300" spc="-145">
                <a:latin typeface="Calibri"/>
                <a:cs typeface="Calibri"/>
              </a:rPr>
              <a:t> </a:t>
            </a:r>
            <a:r>
              <a:rPr dirty="0" sz="2300" spc="-40">
                <a:latin typeface="Calibri"/>
                <a:cs typeface="Calibri"/>
              </a:rPr>
              <a:t>geçer[itiğini</a:t>
            </a:r>
            <a:r>
              <a:rPr dirty="0" sz="2300" spc="-75">
                <a:latin typeface="Calibri"/>
                <a:cs typeface="Calibri"/>
              </a:rPr>
              <a:t> </a:t>
            </a:r>
            <a:r>
              <a:rPr dirty="0" sz="2300" spc="-40">
                <a:latin typeface="Calibri"/>
                <a:cs typeface="Calibri"/>
              </a:rPr>
              <a:t>ternelden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belirleyen</a:t>
            </a:r>
            <a:r>
              <a:rPr dirty="0" sz="2300" spc="85">
                <a:latin typeface="Calibri"/>
                <a:cs typeface="Calibri"/>
              </a:rPr>
              <a:t> </a:t>
            </a:r>
            <a:r>
              <a:rPr dirty="0" sz="2300" spc="70">
                <a:solidFill>
                  <a:srgbClr val="133A5E"/>
                </a:solidFill>
                <a:latin typeface="Calibri"/>
                <a:cs typeface="Calibri"/>
              </a:rPr>
              <a:t>kritik</a:t>
            </a:r>
            <a:endParaRPr sz="2300">
              <a:latin typeface="Calibri"/>
              <a:cs typeface="Calibri"/>
            </a:endParaRPr>
          </a:p>
          <a:p>
            <a:pPr marL="374015">
              <a:lnSpc>
                <a:spcPts val="2610"/>
              </a:lnSpc>
            </a:pPr>
            <a:r>
              <a:rPr dirty="0" sz="2200" spc="100">
                <a:solidFill>
                  <a:srgbClr val="1A3854"/>
                </a:solidFill>
                <a:latin typeface="Calibri"/>
                <a:cs typeface="Calibri"/>
              </a:rPr>
              <a:t>bir</a:t>
            </a:r>
            <a:r>
              <a:rPr dirty="0" sz="2200" spc="-30">
                <a:solidFill>
                  <a:srgbClr val="1A3854"/>
                </a:solidFill>
                <a:latin typeface="Calibri"/>
                <a:cs typeface="Calibri"/>
              </a:rPr>
              <a:t> </a:t>
            </a:r>
            <a:r>
              <a:rPr dirty="0" sz="2200" spc="100">
                <a:solidFill>
                  <a:srgbClr val="0F2A46"/>
                </a:solidFill>
                <a:latin typeface="Calibri"/>
                <a:cs typeface="Calibri"/>
              </a:rPr>
              <a:t>mühendislik</a:t>
            </a:r>
            <a:r>
              <a:rPr dirty="0" sz="2200" spc="85">
                <a:solidFill>
                  <a:srgbClr val="0F2A46"/>
                </a:solidFill>
                <a:latin typeface="Calibri"/>
                <a:cs typeface="Calibri"/>
              </a:rPr>
              <a:t> </a:t>
            </a:r>
            <a:r>
              <a:rPr dirty="0" sz="2200" spc="55">
                <a:latin typeface="Calibri"/>
                <a:cs typeface="Calibri"/>
              </a:rPr>
              <a:t>kararıdır.</a:t>
            </a:r>
            <a:endParaRPr sz="2200">
              <a:latin typeface="Calibri"/>
              <a:cs typeface="Calibri"/>
            </a:endParaRPr>
          </a:p>
          <a:p>
            <a:pPr marL="368300" indent="-355600">
              <a:lnSpc>
                <a:spcPts val="2730"/>
              </a:lnSpc>
              <a:spcBef>
                <a:spcPts val="660"/>
              </a:spcBef>
              <a:buChar char="•"/>
              <a:tabLst>
                <a:tab pos="368300" algn="l"/>
              </a:tabLst>
            </a:pPr>
            <a:r>
              <a:rPr dirty="0" sz="2300">
                <a:latin typeface="Calibri"/>
                <a:cs typeface="Calibri"/>
              </a:rPr>
              <a:t>Öneriler: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Gelecek</a:t>
            </a:r>
            <a:r>
              <a:rPr dirty="0" sz="2300" spc="8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çalışmalarda</a:t>
            </a:r>
            <a:r>
              <a:rPr dirty="0" sz="2300" spc="11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daha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gerçekçi</a:t>
            </a:r>
            <a:r>
              <a:rPr dirty="0" sz="2300" spc="3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modelleme</a:t>
            </a:r>
            <a:r>
              <a:rPr dirty="0" sz="2300" spc="9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için</a:t>
            </a:r>
            <a:r>
              <a:rPr dirty="0" sz="2300" spc="35">
                <a:latin typeface="Calibri"/>
                <a:cs typeface="Calibri"/>
              </a:rPr>
              <a:t> </a:t>
            </a:r>
            <a:r>
              <a:rPr dirty="0" sz="2300" spc="70">
                <a:solidFill>
                  <a:srgbClr val="152A42"/>
                </a:solidFill>
                <a:latin typeface="Calibri"/>
                <a:cs typeface="Calibri"/>
              </a:rPr>
              <a:t>"Rayleigh</a:t>
            </a:r>
            <a:r>
              <a:rPr dirty="0" sz="2300" spc="25">
                <a:solidFill>
                  <a:srgbClr val="152A42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13454"/>
                </a:solidFill>
                <a:latin typeface="Calibri"/>
                <a:cs typeface="Calibri"/>
              </a:rPr>
              <a:t>Sönüm</a:t>
            </a:r>
            <a:r>
              <a:rPr dirty="0" sz="2300" spc="-35">
                <a:solidFill>
                  <a:srgbClr val="113454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13365D"/>
                </a:solidFill>
                <a:latin typeface="Calibri"/>
                <a:cs typeface="Calibri"/>
              </a:rPr>
              <a:t>Matrisi"</a:t>
            </a:r>
            <a:r>
              <a:rPr dirty="0" sz="2300" spc="35">
                <a:solidFill>
                  <a:srgbClr val="13365D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entegrasyonu</a:t>
            </a:r>
            <a:r>
              <a:rPr dirty="0" sz="2300" spc="1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ve</a:t>
            </a:r>
            <a:r>
              <a:rPr dirty="0" sz="2300" spc="-16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hesaplama</a:t>
            </a:r>
            <a:r>
              <a:rPr dirty="0" sz="2300" spc="3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verimliliğini</a:t>
            </a:r>
            <a:endParaRPr sz="2300">
              <a:latin typeface="Calibri"/>
              <a:cs typeface="Calibri"/>
            </a:endParaRPr>
          </a:p>
          <a:p>
            <a:pPr marL="382905">
              <a:lnSpc>
                <a:spcPts val="2610"/>
              </a:lnSpc>
            </a:pPr>
            <a:r>
              <a:rPr dirty="0" sz="2200">
                <a:latin typeface="Calibri"/>
                <a:cs typeface="Calibri"/>
              </a:rPr>
              <a:t>artırmak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 spc="65">
                <a:latin typeface="Calibri"/>
                <a:cs typeface="Calibri"/>
              </a:rPr>
              <a:t>için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145">
                <a:solidFill>
                  <a:srgbClr val="1C3349"/>
                </a:solidFill>
                <a:latin typeface="Calibri"/>
                <a:cs typeface="Calibri"/>
              </a:rPr>
              <a:t>"RK45</a:t>
            </a:r>
            <a:r>
              <a:rPr dirty="0" sz="2200" spc="10">
                <a:solidFill>
                  <a:srgbClr val="1C3349"/>
                </a:solidFill>
                <a:latin typeface="Calibri"/>
                <a:cs typeface="Calibri"/>
              </a:rPr>
              <a:t> </a:t>
            </a:r>
            <a:r>
              <a:rPr dirty="0" sz="2200" spc="114">
                <a:solidFill>
                  <a:srgbClr val="1A3650"/>
                </a:solidFill>
                <a:latin typeface="Calibri"/>
                <a:cs typeface="Calibri"/>
              </a:rPr>
              <a:t>gibi</a:t>
            </a:r>
            <a:r>
              <a:rPr dirty="0" sz="2200" spc="-105">
                <a:solidFill>
                  <a:srgbClr val="1A3650"/>
                </a:solidFill>
                <a:latin typeface="Calibri"/>
                <a:cs typeface="Calibri"/>
              </a:rPr>
              <a:t> </a:t>
            </a:r>
            <a:r>
              <a:rPr dirty="0" sz="2200" spc="85">
                <a:solidFill>
                  <a:srgbClr val="113352"/>
                </a:solidFill>
                <a:latin typeface="Calibri"/>
                <a:cs typeface="Calibri"/>
              </a:rPr>
              <a:t>adaptif</a:t>
            </a:r>
            <a:r>
              <a:rPr dirty="0" sz="2200" spc="65">
                <a:solidFill>
                  <a:srgbClr val="113352"/>
                </a:solidFill>
                <a:latin typeface="Calibri"/>
                <a:cs typeface="Calibri"/>
              </a:rPr>
              <a:t> </a:t>
            </a:r>
            <a:r>
              <a:rPr dirty="0" sz="2200" spc="110">
                <a:solidFill>
                  <a:srgbClr val="0E2F56"/>
                </a:solidFill>
                <a:latin typeface="Calibri"/>
                <a:cs typeface="Calibri"/>
              </a:rPr>
              <a:t>zaman</a:t>
            </a:r>
            <a:r>
              <a:rPr dirty="0" sz="2200" spc="-65">
                <a:solidFill>
                  <a:srgbClr val="0E2F56"/>
                </a:solidFill>
                <a:latin typeface="Calibri"/>
                <a:cs typeface="Calibri"/>
              </a:rPr>
              <a:t> </a:t>
            </a:r>
            <a:r>
              <a:rPr dirty="0" sz="2200" spc="110">
                <a:solidFill>
                  <a:srgbClr val="13365B"/>
                </a:solidFill>
                <a:latin typeface="Calibri"/>
                <a:cs typeface="Calibri"/>
              </a:rPr>
              <a:t>adımlı</a:t>
            </a:r>
            <a:r>
              <a:rPr dirty="0" sz="2200">
                <a:solidFill>
                  <a:srgbClr val="13365B"/>
                </a:solidFill>
                <a:latin typeface="Calibri"/>
                <a:cs typeface="Calibri"/>
              </a:rPr>
              <a:t> </a:t>
            </a:r>
            <a:r>
              <a:rPr dirty="0" sz="2200" spc="85">
                <a:solidFill>
                  <a:srgbClr val="133456"/>
                </a:solidFill>
                <a:latin typeface="Calibri"/>
                <a:cs typeface="Calibri"/>
              </a:rPr>
              <a:t>yontemler"</a:t>
            </a:r>
            <a:r>
              <a:rPr dirty="0" sz="2200" spc="70">
                <a:solidFill>
                  <a:srgbClr val="133456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incelenmelidir.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2025-12-19T16:57:49Z</dcterms:created>
  <dcterms:modified xsi:type="dcterms:W3CDTF">2025-12-19T16:57:49Z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2025-12-19T00:00:00Z</vt:filetime>
  </property>
  <property fmtid="{D5CDD505-2E9C-101B-9397-08002B2CF9AE}" pid="3" name="LastSaved">
    <vt:filetime>2025-12-19T00:00:00Z</vt:filetime>
  </property>
</Properties>
</file>